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openxmlformats.org/officedocument/2006/relationships/metadata/core-properties" Target="docProps/core0.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 /><Relationship Id="rId13" Type="http://schemas.openxmlformats.org/officeDocument/2006/relationships/slide" Target="slides/slide11.xml" /><Relationship Id="rId18" Type="http://schemas.openxmlformats.org/officeDocument/2006/relationships/tableStyles" Target="tableStyles.xml" /><Relationship Id="rId3" Type="http://schemas.openxmlformats.org/officeDocument/2006/relationships/slide" Target="slides/slide1.xml" /><Relationship Id="rId7" Type="http://schemas.openxmlformats.org/officeDocument/2006/relationships/slide" Target="slides/slide5.xml" /><Relationship Id="rId12" Type="http://schemas.openxmlformats.org/officeDocument/2006/relationships/slide" Target="slides/slide10.xml" /><Relationship Id="rId17" Type="http://schemas.openxmlformats.org/officeDocument/2006/relationships/theme" Target="theme/theme1.xml" /><Relationship Id="rId2" Type="http://schemas.openxmlformats.org/officeDocument/2006/relationships/slideMaster" Target="slideMasters/slideMaster2.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4.xml" /><Relationship Id="rId11" Type="http://schemas.openxmlformats.org/officeDocument/2006/relationships/slide" Target="slides/slide9.xml" /><Relationship Id="rId5" Type="http://schemas.openxmlformats.org/officeDocument/2006/relationships/slide" Target="slides/slide3.xml" /><Relationship Id="rId15" Type="http://schemas.openxmlformats.org/officeDocument/2006/relationships/presProps" Target="presProps.xml" /><Relationship Id="rId10" Type="http://schemas.openxmlformats.org/officeDocument/2006/relationships/slide" Target="slides/slide8.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tBDfr" TargetMode="External" /><Relationship Id="rId2" Type="http://schemas.openxmlformats.org/officeDocument/2006/relationships/hyperlink" Target="https://bit.ly/3A1uf1Q" TargetMode="External"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57920" y="368280"/>
            <a:ext cx="7930800" cy="2430360"/>
          </a:xfrm>
          <a:prstGeom prst="rect">
            <a:avLst/>
          </a:prstGeom>
          <a:noFill/>
          <a:ln w="0">
            <a:noFill/>
          </a:ln>
        </p:spPr>
        <p:txBody>
          <a:bodyPr lIns="91440" tIns="91440" rIns="91440" bIns="91440" anchor="t">
            <a:noAutofit/>
          </a:bodyPr>
          <a:lstStyle/>
          <a:p>
            <a:pPr indent="0">
              <a:buNone/>
            </a:pPr>
            <a:r>
              <a:rPr lang="fr-FR" sz="7500" b="0" u="none" strike="noStrike">
                <a:solidFill>
                  <a:schemeClr val="dk1"/>
                </a:solidFill>
                <a:effectLst/>
                <a:uFillTx/>
                <a:latin typeface="Arial"/>
              </a:rPr>
              <a:t>Click to edit the title text format</a:t>
            </a:r>
          </a:p>
        </p:txBody>
      </p:sp>
      <p:pic>
        <p:nvPicPr>
          <p:cNvPr id="4" name="Google Shape;11;p2"/>
          <p:cNvPicPr/>
          <p:nvPr/>
        </p:nvPicPr>
        <p:blipFill>
          <a:blip r:embed="rId2">
            <a:alphaModFix amt="64000"/>
          </a:blip>
          <a:srcRect l="11021" r="13736" b="8153"/>
          <a:stretch/>
        </p:blipFill>
        <p:spPr>
          <a:xfrm>
            <a:off x="3834360" y="1266120"/>
            <a:ext cx="6625800" cy="5777280"/>
          </a:xfrm>
          <a:prstGeom prst="rect">
            <a:avLst/>
          </a:prstGeom>
          <a:noFill/>
          <a:ln w="0">
            <a:noFill/>
          </a:ln>
        </p:spPr>
      </p:pic>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1284120" y="1953000"/>
            <a:ext cx="4454280" cy="799200"/>
          </a:xfrm>
          <a:prstGeom prst="rect">
            <a:avLst/>
          </a:prstGeom>
          <a:noFill/>
          <a:ln w="0">
            <a:noFill/>
          </a:ln>
        </p:spPr>
        <p:txBody>
          <a:bodyPr lIns="91440" tIns="91440" rIns="91440" bIns="91440" anchor="b">
            <a:noAutofit/>
          </a:bodyPr>
          <a:lstStyle/>
          <a:p>
            <a:pPr indent="0">
              <a:lnSpc>
                <a:spcPct val="100000"/>
              </a:lnSpc>
              <a:buNone/>
            </a:pPr>
            <a:r>
              <a:rPr lang="fr-FR" sz="6000" b="0" u="none" strike="noStrike">
                <a:solidFill>
                  <a:schemeClr val="dk1"/>
                </a:solidFill>
                <a:effectLst/>
                <a:uFillTx/>
                <a:latin typeface="Viaoda Libre"/>
                <a:ea typeface="Viaoda Libre"/>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2576520" y="129276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5" name="PlaceHolder 2"/>
          <p:cNvSpPr>
            <a:spLocks noGrp="1"/>
          </p:cNvSpPr>
          <p:nvPr>
            <p:ph type="title"/>
          </p:nvPr>
        </p:nvSpPr>
        <p:spPr>
          <a:xfrm>
            <a:off x="2576520" y="218772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6" name="PlaceHolder 3"/>
          <p:cNvSpPr>
            <a:spLocks noGrp="1"/>
          </p:cNvSpPr>
          <p:nvPr>
            <p:ph type="title"/>
          </p:nvPr>
        </p:nvSpPr>
        <p:spPr>
          <a:xfrm>
            <a:off x="2576520" y="308268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7" name="PlaceHolder 4"/>
          <p:cNvSpPr>
            <a:spLocks noGrp="1"/>
          </p:cNvSpPr>
          <p:nvPr>
            <p:ph type="title"/>
          </p:nvPr>
        </p:nvSpPr>
        <p:spPr>
          <a:xfrm>
            <a:off x="2576520" y="393768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8" name="PlaceHolder 5"/>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9" name="Google Shape;55;p13"/>
          <p:cNvPicPr/>
          <p:nvPr/>
        </p:nvPicPr>
        <p:blipFill>
          <a:blip r:embed="rId2">
            <a:alphaModFix amt="64000"/>
          </a:blip>
          <a:srcRect l="11021" r="13736" b="8153"/>
          <a:stretch/>
        </p:blipFill>
        <p:spPr>
          <a:xfrm rot="10523400">
            <a:off x="6530760" y="569520"/>
            <a:ext cx="6625800" cy="5777280"/>
          </a:xfrm>
          <a:prstGeom prst="rect">
            <a:avLst/>
          </a:prstGeom>
          <a:noFill/>
          <a:ln w="0">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3445560"/>
            <a:ext cx="8113320" cy="1274760"/>
          </a:xfrm>
          <a:prstGeom prst="rect">
            <a:avLst/>
          </a:prstGeom>
          <a:noFill/>
          <a:ln w="0">
            <a:noFill/>
          </a:ln>
        </p:spPr>
        <p:txBody>
          <a:bodyPr lIns="91440" tIns="91440" rIns="91440" bIns="91440" anchor="b">
            <a:noAutofit/>
          </a:bodyPr>
          <a:lstStyle/>
          <a:p>
            <a:pPr indent="0">
              <a:buNone/>
            </a:pPr>
            <a:r>
              <a:rPr lang="fr-FR" sz="3300" b="0" u="none" strike="noStrike">
                <a:solidFill>
                  <a:schemeClr val="dk1"/>
                </a:solidFill>
                <a:effectLst/>
                <a:uFillTx/>
                <a:latin typeface="Arial"/>
              </a:rPr>
              <a:t>Click to edit the title text format</a:t>
            </a:r>
          </a:p>
        </p:txBody>
      </p:sp>
      <p:pic>
        <p:nvPicPr>
          <p:cNvPr id="11" name="Google Shape;59;p14"/>
          <p:cNvPicPr/>
          <p:nvPr/>
        </p:nvPicPr>
        <p:blipFill>
          <a:blip r:embed="rId2">
            <a:alphaModFix amt="64000"/>
          </a:blip>
          <a:srcRect l="11021" r="13736" b="8153"/>
          <a:stretch/>
        </p:blipFill>
        <p:spPr>
          <a:xfrm rot="19518600">
            <a:off x="3620520" y="2570760"/>
            <a:ext cx="6625800" cy="5777280"/>
          </a:xfrm>
          <a:prstGeom prst="rect">
            <a:avLst/>
          </a:prstGeom>
          <a:noFill/>
          <a:ln w="0">
            <a:noFill/>
          </a:ln>
        </p:spPr>
      </p:pic>
      <p:sp>
        <p:nvSpPr>
          <p:cNvPr id="1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_1">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body"/>
          </p:nvPr>
        </p:nvSpPr>
        <p:spPr>
          <a:xfrm>
            <a:off x="845280" y="1199520"/>
            <a:ext cx="4619880" cy="20998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4" name="PlaceHolder 2"/>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15" name="Google Shape;63;p15"/>
          <p:cNvPicPr/>
          <p:nvPr/>
        </p:nvPicPr>
        <p:blipFill>
          <a:blip r:embed="rId2">
            <a:alphaModFix amt="64000"/>
          </a:blip>
          <a:srcRect l="11021" r="13736" b="8153"/>
          <a:stretch/>
        </p:blipFill>
        <p:spPr>
          <a:xfrm rot="3072000">
            <a:off x="-2614320" y="-1976760"/>
            <a:ext cx="4433400" cy="3866040"/>
          </a:xfrm>
          <a:prstGeom prst="rect">
            <a:avLst/>
          </a:prstGeom>
          <a:noFill/>
          <a:ln w="0">
            <a:noFill/>
          </a:ln>
        </p:spPr>
      </p:pic>
      <p:sp>
        <p:nvSpPr>
          <p:cNvPr id="16" name="PlaceHolder 3"/>
          <p:cNvSpPr>
            <a:spLocks noGrp="1"/>
          </p:cNvSpPr>
          <p:nvPr>
            <p:ph type="body"/>
          </p:nvPr>
        </p:nvSpPr>
        <p:spPr>
          <a:xfrm>
            <a:off x="5782680" y="1249560"/>
            <a:ext cx="3360960" cy="3893760"/>
          </a:xfrm>
          <a:prstGeom prst="rect">
            <a:avLst/>
          </a:prstGeom>
          <a:noFill/>
          <a:ln w="0">
            <a:noFill/>
          </a:ln>
        </p:spPr>
        <p:txBody>
          <a:bodyPr lIns="90000" tIns="45000" rIns="90000" bIns="45000" anchor="t">
            <a:normAutofit fontScale="850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17" name="Google Shape;66;p16"/>
          <p:cNvPicPr/>
          <p:nvPr/>
        </p:nvPicPr>
        <p:blipFill>
          <a:blip r:embed="rId2">
            <a:alphaModFix amt="64000"/>
          </a:blip>
          <a:srcRect l="11021" r="13736" b="8153"/>
          <a:stretch/>
        </p:blipFill>
        <p:spPr>
          <a:xfrm rot="13175400">
            <a:off x="172080" y="-2061000"/>
            <a:ext cx="4599360" cy="4010400"/>
          </a:xfrm>
          <a:prstGeom prst="rect">
            <a:avLst/>
          </a:prstGeom>
          <a:noFill/>
          <a:ln w="0">
            <a:noFill/>
          </a:ln>
        </p:spPr>
      </p:pic>
      <p:sp>
        <p:nvSpPr>
          <p:cNvPr id="18"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pic>
        <p:nvPicPr>
          <p:cNvPr id="19" name="Google Shape;69;p17"/>
          <p:cNvPicPr/>
          <p:nvPr/>
        </p:nvPicPr>
        <p:blipFill>
          <a:blip r:embed="rId2">
            <a:alphaModFix amt="64000"/>
          </a:blip>
          <a:srcRect l="11021" r="13736" b="8153"/>
          <a:stretch/>
        </p:blipFill>
        <p:spPr>
          <a:xfrm rot="4050000">
            <a:off x="7011720" y="-2139120"/>
            <a:ext cx="6625800" cy="5777280"/>
          </a:xfrm>
          <a:prstGeom prst="rect">
            <a:avLst/>
          </a:prstGeom>
          <a:noFill/>
          <a:ln w="0">
            <a:noFill/>
          </a:ln>
        </p:spPr>
      </p:pic>
      <p:sp>
        <p:nvSpPr>
          <p:cNvPr id="20"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86000" y="212400"/>
            <a:ext cx="817128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22" name="Google Shape;79;p18"/>
          <p:cNvPicPr/>
          <p:nvPr/>
        </p:nvPicPr>
        <p:blipFill>
          <a:blip r:embed="rId2">
            <a:alphaModFix amt="64000"/>
          </a:blip>
          <a:srcRect l="11021" r="13736" b="8153"/>
          <a:stretch/>
        </p:blipFill>
        <p:spPr>
          <a:xfrm rot="4361400">
            <a:off x="5070240" y="2708640"/>
            <a:ext cx="6625800" cy="5777280"/>
          </a:xfrm>
          <a:prstGeom prst="rect">
            <a:avLst/>
          </a:prstGeom>
          <a:noFill/>
          <a:ln w="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12400"/>
            <a:ext cx="817128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24" name="Google Shape;94;p19"/>
          <p:cNvPicPr/>
          <p:nvPr/>
        </p:nvPicPr>
        <p:blipFill>
          <a:blip r:embed="rId2">
            <a:alphaModFix amt="64000"/>
          </a:blip>
          <a:srcRect l="11021" r="13736" b="8153"/>
          <a:stretch/>
        </p:blipFill>
        <p:spPr>
          <a:xfrm rot="11382600">
            <a:off x="5733360" y="-2468880"/>
            <a:ext cx="6625800" cy="5777280"/>
          </a:xfrm>
          <a:prstGeom prst="rect">
            <a:avLst/>
          </a:prstGeom>
          <a:noFill/>
          <a:ln w="0">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457560" y="535680"/>
            <a:ext cx="3417840" cy="754200"/>
          </a:xfrm>
          <a:prstGeom prst="rect">
            <a:avLst/>
          </a:prstGeom>
          <a:noFill/>
          <a:ln w="0">
            <a:noFill/>
          </a:ln>
        </p:spPr>
        <p:txBody>
          <a:bodyPr lIns="91440" tIns="91440" rIns="91440" bIns="91440" anchor="b">
            <a:noAutofit/>
          </a:bodyPr>
          <a:lstStyle/>
          <a:p>
            <a:pPr indent="0">
              <a:lnSpc>
                <a:spcPct val="100000"/>
              </a:lnSpc>
              <a:buNone/>
            </a:pPr>
            <a:r>
              <a:rPr lang="fr-FR" sz="4300" b="0" i="1" u="none" strike="noStrike">
                <a:solidFill>
                  <a:schemeClr val="dk1"/>
                </a:solidFill>
                <a:effectLst/>
                <a:uFillTx/>
                <a:latin typeface="Viaoda Libre"/>
                <a:ea typeface="Viaoda Libre"/>
              </a:rPr>
              <a:t>xx%</a:t>
            </a:r>
            <a:endParaRPr lang="fr-FR" sz="4300" b="0" u="none" strike="noStrike">
              <a:solidFill>
                <a:schemeClr val="dk1"/>
              </a:solidFill>
              <a:effectLst/>
              <a:uFillTx/>
              <a:latin typeface="Arial"/>
            </a:endParaRPr>
          </a:p>
        </p:txBody>
      </p:sp>
      <p:sp>
        <p:nvSpPr>
          <p:cNvPr id="26" name="PlaceHolder 2"/>
          <p:cNvSpPr>
            <a:spLocks noGrp="1"/>
          </p:cNvSpPr>
          <p:nvPr>
            <p:ph type="title"/>
          </p:nvPr>
        </p:nvSpPr>
        <p:spPr>
          <a:xfrm>
            <a:off x="5268600" y="3691080"/>
            <a:ext cx="3417840" cy="754200"/>
          </a:xfrm>
          <a:prstGeom prst="rect">
            <a:avLst/>
          </a:prstGeom>
          <a:noFill/>
          <a:ln w="0">
            <a:noFill/>
          </a:ln>
        </p:spPr>
        <p:txBody>
          <a:bodyPr lIns="91440" tIns="91440" rIns="91440" bIns="91440" anchor="b">
            <a:noAutofit/>
          </a:bodyPr>
          <a:lstStyle/>
          <a:p>
            <a:pPr indent="0" algn="r">
              <a:lnSpc>
                <a:spcPct val="100000"/>
              </a:lnSpc>
              <a:buNone/>
            </a:pPr>
            <a:r>
              <a:rPr lang="fr-FR" sz="4300" b="0" i="1" u="none" strike="noStrike">
                <a:solidFill>
                  <a:schemeClr val="dk1"/>
                </a:solidFill>
                <a:effectLst/>
                <a:uFillTx/>
                <a:latin typeface="Viaoda Libre"/>
                <a:ea typeface="Viaoda Libre"/>
              </a:rPr>
              <a:t>xx%</a:t>
            </a:r>
            <a:endParaRPr lang="fr-FR" sz="4300" b="0" u="none" strike="noStrike">
              <a:solidFill>
                <a:schemeClr val="dk1"/>
              </a:solidFill>
              <a:effectLst/>
              <a:uFillTx/>
              <a:latin typeface="Arial"/>
            </a:endParaRPr>
          </a:p>
        </p:txBody>
      </p:sp>
      <p:pic>
        <p:nvPicPr>
          <p:cNvPr id="27" name="Google Shape;100;p20"/>
          <p:cNvPicPr/>
          <p:nvPr/>
        </p:nvPicPr>
        <p:blipFill>
          <a:blip r:embed="rId2">
            <a:alphaModFix amt="64000"/>
          </a:blip>
          <a:srcRect l="11021" r="13736" b="8153"/>
          <a:stretch/>
        </p:blipFill>
        <p:spPr>
          <a:xfrm rot="20224800">
            <a:off x="-2000520" y="1667880"/>
            <a:ext cx="6625800" cy="577728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2478960" y="1791000"/>
            <a:ext cx="6207840" cy="2911680"/>
          </a:xfrm>
          <a:prstGeom prst="rect">
            <a:avLst/>
          </a:prstGeom>
          <a:noFill/>
          <a:ln w="0">
            <a:noFill/>
          </a:ln>
        </p:spPr>
        <p:txBody>
          <a:bodyPr lIns="91440" tIns="91440" rIns="91440" bIns="91440" anchor="b">
            <a:noAutofit/>
          </a:bodyPr>
          <a:lstStyle/>
          <a:p>
            <a:pPr indent="0">
              <a:buNone/>
            </a:pPr>
            <a:r>
              <a:rPr lang="fr-FR" sz="4800" b="0" u="none" strike="noStrike">
                <a:solidFill>
                  <a:schemeClr val="dk1"/>
                </a:solidFill>
                <a:effectLst/>
                <a:uFillTx/>
                <a:latin typeface="Arial"/>
              </a:rPr>
              <a:t>Click to edit the title text format</a:t>
            </a:r>
          </a:p>
        </p:txBody>
      </p:sp>
      <p:sp>
        <p:nvSpPr>
          <p:cNvPr id="29" name="PlaceHolder 2"/>
          <p:cNvSpPr>
            <a:spLocks noGrp="1"/>
          </p:cNvSpPr>
          <p:nvPr>
            <p:ph type="title"/>
          </p:nvPr>
        </p:nvSpPr>
        <p:spPr>
          <a:xfrm>
            <a:off x="457200" y="440280"/>
            <a:ext cx="1294920" cy="762840"/>
          </a:xfrm>
          <a:prstGeom prst="rect">
            <a:avLst/>
          </a:prstGeom>
          <a:noFill/>
          <a:ln w="0">
            <a:noFill/>
          </a:ln>
        </p:spPr>
        <p:txBody>
          <a:bodyPr lIns="91440" tIns="91440" rIns="91440" bIns="91440" anchor="ctr">
            <a:noAutofit/>
          </a:bodyPr>
          <a:lstStyle/>
          <a:p>
            <a:pPr indent="0">
              <a:lnSpc>
                <a:spcPct val="100000"/>
              </a:lnSpc>
              <a:buNone/>
            </a:pPr>
            <a:r>
              <a:rPr lang="fr-FR" sz="6500" b="0" i="1" u="none" strike="noStrike">
                <a:solidFill>
                  <a:schemeClr val="dk1"/>
                </a:solidFill>
                <a:effectLst/>
                <a:uFillTx/>
                <a:latin typeface="Viaoda Libre"/>
                <a:ea typeface="Viaoda Libre"/>
              </a:rPr>
              <a:t>xx%</a:t>
            </a:r>
            <a:endParaRPr lang="fr-FR" sz="6500" b="0" u="none" strike="noStrike">
              <a:solidFill>
                <a:schemeClr val="dk1"/>
              </a:solidFill>
              <a:effectLst/>
              <a:uFillTx/>
              <a:latin typeface="Arial"/>
            </a:endParaRPr>
          </a:p>
        </p:txBody>
      </p:sp>
      <p:pic>
        <p:nvPicPr>
          <p:cNvPr id="30" name="Google Shape;15;p3"/>
          <p:cNvPicPr/>
          <p:nvPr/>
        </p:nvPicPr>
        <p:blipFill>
          <a:blip r:embed="rId2">
            <a:alphaModFix amt="64000"/>
          </a:blip>
          <a:srcRect l="11021" r="13736" b="8153"/>
          <a:stretch/>
        </p:blipFill>
        <p:spPr>
          <a:xfrm rot="8601600">
            <a:off x="2378880" y="-4229280"/>
            <a:ext cx="8775720" cy="7652160"/>
          </a:xfrm>
          <a:prstGeom prst="rect">
            <a:avLst/>
          </a:prstGeom>
          <a:noFill/>
          <a:ln w="0">
            <a:noFill/>
          </a:ln>
        </p:spPr>
      </p:pic>
      <p:sp>
        <p:nvSpPr>
          <p:cNvPr id="31"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3242880" y="456480"/>
            <a:ext cx="5443200" cy="1035720"/>
          </a:xfrm>
          <a:prstGeom prst="rect">
            <a:avLst/>
          </a:prstGeom>
          <a:noFill/>
          <a:ln w="0">
            <a:noFill/>
          </a:ln>
        </p:spPr>
        <p:txBody>
          <a:bodyPr lIns="91440" tIns="91440" rIns="91440" bIns="91440" anchor="b">
            <a:noAutofit/>
          </a:bodyPr>
          <a:lstStyle/>
          <a:p>
            <a:pPr indent="0">
              <a:buNone/>
            </a:pPr>
            <a:r>
              <a:rPr lang="fr-FR" sz="7400" b="0" u="none" strike="noStrike">
                <a:solidFill>
                  <a:schemeClr val="dk1"/>
                </a:solidFill>
                <a:effectLst/>
                <a:uFillTx/>
                <a:latin typeface="Arial"/>
              </a:rPr>
              <a:t>Click to edit the title text format</a:t>
            </a:r>
          </a:p>
        </p:txBody>
      </p:sp>
      <p:sp>
        <p:nvSpPr>
          <p:cNvPr id="33" name="Google Shape;104;p21"/>
          <p:cNvSpPr/>
          <p:nvPr/>
        </p:nvSpPr>
        <p:spPr>
          <a:xfrm>
            <a:off x="457200" y="3846960"/>
            <a:ext cx="5757120" cy="555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200" b="0" u="none" strike="noStrike">
                <a:solidFill>
                  <a:schemeClr val="dk1"/>
                </a:solidFill>
                <a:effectLst/>
                <a:uFillTx/>
                <a:latin typeface="Albert Sans"/>
                <a:ea typeface="Albert Sans"/>
              </a:rPr>
              <a:t>CREDITS: This presentation template was created by </a:t>
            </a:r>
            <a:r>
              <a:rPr lang="en" sz="1200" b="1" u="sng" strike="noStrike">
                <a:solidFill>
                  <a:schemeClr val="dk1"/>
                </a:solidFill>
                <a:effectLst/>
                <a:uFillTx/>
                <a:latin typeface="Albert Sans"/>
                <a:ea typeface="Albert Sans"/>
                <a:hlinkClick r:id="rId2"/>
              </a:rPr>
              <a:t>Slidesgo</a:t>
            </a:r>
            <a:r>
              <a:rPr lang="en" sz="1200" b="0" u="none" strike="noStrike">
                <a:solidFill>
                  <a:schemeClr val="dk1"/>
                </a:solidFill>
                <a:effectLst/>
                <a:uFillTx/>
                <a:latin typeface="Albert Sans"/>
                <a:ea typeface="Albert Sans"/>
              </a:rPr>
              <a:t>, and includes icons, infographics &amp; images by </a:t>
            </a:r>
            <a:r>
              <a:rPr lang="en" sz="1200" b="1" u="sng" strike="noStrike">
                <a:solidFill>
                  <a:schemeClr val="dk1"/>
                </a:solidFill>
                <a:effectLst/>
                <a:uFillTx/>
                <a:latin typeface="Albert Sans"/>
                <a:ea typeface="Albert Sans"/>
                <a:hlinkClick r:id="rId3"/>
              </a:rPr>
              <a:t>Freepik</a:t>
            </a:r>
            <a:r>
              <a:rPr lang="en" sz="1200" b="1" u="none" strike="noStrike">
                <a:solidFill>
                  <a:schemeClr val="dk1"/>
                </a:solidFill>
                <a:effectLst/>
                <a:uFillTx/>
                <a:latin typeface="Albert Sans"/>
                <a:ea typeface="Albert Sans"/>
              </a:rPr>
              <a:t> </a:t>
            </a:r>
            <a:endParaRPr lang="en-US" sz="1200" b="0" u="none" strike="noStrike">
              <a:solidFill>
                <a:srgbClr val="000000"/>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34" name="PlaceHolder 1"/>
          <p:cNvSpPr>
            <a:spLocks noGrp="1"/>
          </p:cNvSpPr>
          <p:nvPr>
            <p:ph type="body"/>
          </p:nvPr>
        </p:nvSpPr>
        <p:spPr>
          <a:xfrm>
            <a:off x="457200" y="1221480"/>
            <a:ext cx="8233560" cy="13014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35" name="PlaceHolder 2"/>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12400"/>
            <a:ext cx="822924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37" name="Google Shape;25;p5"/>
          <p:cNvPicPr/>
          <p:nvPr/>
        </p:nvPicPr>
        <p:blipFill>
          <a:blip r:embed="rId2">
            <a:alphaModFix amt="64000"/>
          </a:blip>
          <a:srcRect l="11021" r="13736" b="8153"/>
          <a:stretch/>
        </p:blipFill>
        <p:spPr>
          <a:xfrm rot="2200200">
            <a:off x="-3751920" y="-381240"/>
            <a:ext cx="6625800" cy="577728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38" name="Google Shape;27;p6"/>
          <p:cNvPicPr/>
          <p:nvPr/>
        </p:nvPicPr>
        <p:blipFill>
          <a:blip r:embed="rId2">
            <a:alphaModFix amt="64000"/>
          </a:blip>
          <a:srcRect l="11021" r="13736" b="8153"/>
          <a:stretch/>
        </p:blipFill>
        <p:spPr>
          <a:xfrm rot="15790200">
            <a:off x="-1680840" y="-1717200"/>
            <a:ext cx="4467240" cy="3895200"/>
          </a:xfrm>
          <a:prstGeom prst="rect">
            <a:avLst/>
          </a:prstGeom>
          <a:noFill/>
          <a:ln w="0">
            <a:noFill/>
          </a:ln>
        </p:spPr>
      </p:pic>
      <p:sp>
        <p:nvSpPr>
          <p:cNvPr id="39"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body"/>
          </p:nvPr>
        </p:nvSpPr>
        <p:spPr>
          <a:xfrm>
            <a:off x="4053600" y="1704960"/>
            <a:ext cx="4512600" cy="28364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41" name="PlaceHolder 2"/>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4"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5" name="PlaceHolder 2"/>
          <p:cNvSpPr>
            <a:spLocks noGrp="1"/>
          </p:cNvSpPr>
          <p:nvPr>
            <p:ph type="title"/>
          </p:nvPr>
        </p:nvSpPr>
        <p:spPr>
          <a:xfrm>
            <a:off x="469080" y="370800"/>
            <a:ext cx="2841480" cy="733680"/>
          </a:xfrm>
          <a:prstGeom prst="rect">
            <a:avLst/>
          </a:prstGeom>
          <a:solidFill>
            <a:schemeClr val="lt1"/>
          </a:solidFill>
          <a:ln w="0">
            <a:noFill/>
          </a:ln>
        </p:spPr>
        <p:txBody>
          <a:bodyPr lIns="91440" tIns="91440" rIns="91440" bIns="91440" anchor="t">
            <a:noAutofit/>
          </a:bodyPr>
          <a:lstStyle/>
          <a:p>
            <a:pPr indent="0">
              <a:buNone/>
            </a:pPr>
            <a:r>
              <a:rPr lang="fr-FR" sz="19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46" name="Google Shape;112;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48" name="Google Shape;115;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50"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theme" Target="../theme/theme1.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 /><Relationship Id="rId2" Type="http://schemas.openxmlformats.org/officeDocument/2006/relationships/slideLayout" Target="../slideLayouts/slideLayout24.xml" /><Relationship Id="rId1" Type="http://schemas.openxmlformats.org/officeDocument/2006/relationships/slideLayout" Target="../slideLayouts/slideLayout23.xml" /><Relationship Id="rId4" Type="http://schemas.openxmlformats.org/officeDocument/2006/relationships/theme" Target="../theme/theme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6.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6.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6.xml" /></Relationships>
</file>

<file path=ppt/slides/_rels/slide11.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subTitle"/>
          </p:nvPr>
        </p:nvSpPr>
        <p:spPr>
          <a:xfrm>
            <a:off x="457200" y="4390920"/>
            <a:ext cx="4219200" cy="380520"/>
          </a:xfrm>
          <a:prstGeom prst="rect">
            <a:avLst/>
          </a:prstGeom>
          <a:noFill/>
          <a:ln w="0">
            <a:noFill/>
          </a:ln>
        </p:spPr>
        <p:txBody>
          <a:bodyPr lIns="91440" tIns="91440" rIns="91440" bIns="91440" anchor="t">
            <a:normAutofit fontScale="92500" lnSpcReduction="19999"/>
          </a:bodyPr>
          <a:lstStyle/>
          <a:p>
            <a:pPr>
              <a:lnSpc>
                <a:spcPct val="100000"/>
              </a:lnSpc>
              <a:tabLst>
                <a:tab pos="0" algn="l"/>
              </a:tabLst>
            </a:pPr>
            <a:r>
              <a:rPr lang="en-US" sz="1600" b="0" u="none" strike="noStrike">
                <a:solidFill>
                  <a:schemeClr val="dk1"/>
                </a:solidFill>
                <a:effectLst/>
                <a:uFillTx/>
                <a:latin typeface="Albert Sans"/>
                <a:ea typeface="Albert Sans"/>
              </a:rPr>
              <a:t>Purpose and Connectivity Testing</a:t>
            </a:r>
            <a:endParaRPr lang="en-US" sz="1600" b="0" u="none" strike="noStrike">
              <a:solidFill>
                <a:srgbClr val="000000"/>
              </a:solidFill>
              <a:effectLst/>
              <a:uFillTx/>
              <a:latin typeface="OpenSymbol"/>
            </a:endParaRPr>
          </a:p>
        </p:txBody>
      </p:sp>
      <p:sp>
        <p:nvSpPr>
          <p:cNvPr id="52" name="PlaceHolder 2"/>
          <p:cNvSpPr>
            <a:spLocks noGrp="1"/>
          </p:cNvSpPr>
          <p:nvPr>
            <p:ph type="title"/>
          </p:nvPr>
        </p:nvSpPr>
        <p:spPr>
          <a:xfrm>
            <a:off x="457200" y="371520"/>
            <a:ext cx="7934040" cy="2428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7500" b="0" u="none" strike="noStrike">
                <a:solidFill>
                  <a:schemeClr val="dk1"/>
                </a:solidFill>
                <a:effectLst/>
                <a:uFillTx/>
                <a:latin typeface="Viaoda Libre"/>
                <a:ea typeface="Viaoda Libre"/>
              </a:rPr>
              <a:t>PING</a:t>
            </a:r>
            <a:r>
              <a:rPr lang="en-US" sz="7500" b="0" i="1" u="none" strike="noStrike">
                <a:solidFill>
                  <a:schemeClr val="dk1"/>
                </a:solidFill>
                <a:effectLst/>
                <a:uFillTx/>
                <a:latin typeface="Viaoda Libre"/>
                <a:ea typeface="Viaoda Libre"/>
              </a:rPr>
              <a:t> Command</a:t>
            </a:r>
            <a:endParaRPr lang="fr-FR" sz="7500" b="0" u="none" strike="noStrike">
              <a:solidFill>
                <a:schemeClr val="dk1"/>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1"/>
          <p:cNvSpPr>
            <a:spLocks noGrp="1"/>
          </p:cNvSpPr>
          <p:nvPr>
            <p:ph/>
          </p:nvPr>
        </p:nvSpPr>
        <p:spPr>
          <a:xfrm>
            <a:off x="847800" y="1200240"/>
            <a:ext cx="4619160" cy="2104560"/>
          </a:xfrm>
          <a:prstGeom prst="rect">
            <a:avLst/>
          </a:prstGeom>
          <a:noFill/>
          <a:ln w="0">
            <a:noFill/>
          </a:ln>
        </p:spPr>
        <p:txBody>
          <a:bodyPr lIns="91440" tIns="91440" rIns="91440" bIns="91440" anchor="t">
            <a:normAutofit fontScale="70000" lnSpcReduction="19999"/>
          </a:bodyPr>
          <a:lstStyle/>
          <a:p>
            <a:pPr indent="0">
              <a:lnSpc>
                <a:spcPct val="150000"/>
              </a:lnSpc>
              <a:buNone/>
              <a:tabLst>
                <a:tab pos="0" algn="l"/>
              </a:tabLst>
            </a:pPr>
            <a:r>
              <a:rPr lang="en-US" sz="1400" b="0" u="none" strike="noStrike">
                <a:solidFill>
                  <a:schemeClr val="dk1"/>
                </a:solidFill>
                <a:effectLst/>
                <a:uFillTx/>
                <a:latin typeface="Albert Sans"/>
                <a:ea typeface="Albert Sans"/>
              </a:rPr>
              <a:t>The PING command is a critical tool in network management, designed to verify the presence and responsiveness of devices within an Internet Protocol (IP) network. By sending ICMP echo request packets and measuring the time taken for these packets to return, it provides an accurate metric of network latency and device availability.</a:t>
            </a:r>
            <a:endParaRPr lang="fr-FR" sz="1400" b="0" u="none" strike="noStrike">
              <a:solidFill>
                <a:srgbClr val="000000"/>
              </a:solidFill>
              <a:effectLst/>
              <a:uFillTx/>
              <a:latin typeface="Arial"/>
            </a:endParaRPr>
          </a:p>
          <a:p>
            <a:pPr indent="0">
              <a:lnSpc>
                <a:spcPct val="150000"/>
              </a:lnSpc>
              <a:buNone/>
              <a:tabLst>
                <a:tab pos="0" algn="l"/>
              </a:tabLst>
            </a:pPr>
            <a:r>
              <a:rPr lang="en-US" sz="1400" b="0" u="none" strike="noStrike">
                <a:solidFill>
                  <a:schemeClr val="dk1"/>
                </a:solidFill>
                <a:effectLst/>
                <a:uFillTx/>
                <a:latin typeface="Albert Sans"/>
                <a:ea typeface="Albert Sans"/>
              </a:rPr>
              <a:t>p</a:t>
            </a:r>
            <a:endParaRPr lang="fr-FR" sz="1400" b="0" u="none" strike="noStrike">
              <a:solidFill>
                <a:srgbClr val="000000"/>
              </a:solidFill>
              <a:effectLst/>
              <a:uFillTx/>
              <a:latin typeface="Arial"/>
            </a:endParaRPr>
          </a:p>
          <a:p>
            <a:pPr indent="0">
              <a:lnSpc>
                <a:spcPct val="150000"/>
              </a:lnSpc>
              <a:buNone/>
              <a:tabLst>
                <a:tab pos="0" algn="l"/>
              </a:tabLst>
            </a:pPr>
            <a:r>
              <a:rPr lang="en-US" sz="1400" b="0" u="none" strike="noStrike">
                <a:solidFill>
                  <a:schemeClr val="dk1"/>
                </a:solidFill>
                <a:effectLst/>
                <a:uFillTx/>
                <a:latin typeface="Albert Sans"/>
                <a:ea typeface="Albert Sans"/>
              </a:rPr>
              <a:t>/pThis utility is invaluable for quickly detecting connectivity problems, enabling network professionals to identify and resolve issues before they impact operations. Its simplicity and effectiveness make it a cornerstone for reliable network performance assessment and troubleshooting.</a:t>
            </a:r>
            <a:endParaRPr lang="fr-FR" sz="1400" b="0" u="none" strike="noStrike">
              <a:solidFill>
                <a:srgbClr val="000000"/>
              </a:solidFill>
              <a:effectLst/>
              <a:uFillTx/>
              <a:latin typeface="Arial"/>
            </a:endParaRPr>
          </a:p>
        </p:txBody>
      </p:sp>
      <p:sp>
        <p:nvSpPr>
          <p:cNvPr id="54" name="PlaceHolder 2"/>
          <p:cNvSpPr>
            <a:spLocks noGrp="1"/>
          </p:cNvSpPr>
          <p:nvPr>
            <p:ph type="title"/>
          </p:nvPr>
        </p:nvSpPr>
        <p:spPr>
          <a:xfrm>
            <a:off x="514440" y="209520"/>
            <a:ext cx="8115120" cy="64728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300" b="0" u="none" strike="noStrike">
                <a:solidFill>
                  <a:schemeClr val="dk1"/>
                </a:solidFill>
                <a:effectLst/>
                <a:uFillTx/>
                <a:latin typeface="Viaoda Libre"/>
                <a:ea typeface="Viaoda Libre"/>
              </a:rPr>
              <a:t>Introduction</a:t>
            </a:r>
            <a:endParaRPr lang="fr-FR" sz="3300" b="0" u="none" strike="noStrike">
              <a:solidFill>
                <a:schemeClr val="dk1"/>
              </a:solidFill>
              <a:effectLst/>
              <a:uFillTx/>
              <a:latin typeface="Arial"/>
            </a:endParaRPr>
          </a:p>
        </p:txBody>
      </p:sp>
      <p:pic>
        <p:nvPicPr>
          <p:cNvPr id="55" name="Google Shape;184;p31"/>
          <p:cNvPicPr/>
          <p:nvPr/>
        </p:nvPicPr>
        <p:blipFill>
          <a:blip r:embed="rId2"/>
          <a:srcRect l="20913" r="40199" b="19910"/>
          <a:stretch/>
        </p:blipFill>
        <p:spPr>
          <a:xfrm>
            <a:off x="5782680" y="1249560"/>
            <a:ext cx="3360960" cy="389376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438120"/>
            <a:ext cx="1294920" cy="761760"/>
          </a:xfrm>
          <a:prstGeom prst="rect">
            <a:avLst/>
          </a:prstGeom>
          <a:noFill/>
          <a:ln w="0">
            <a:noFill/>
          </a:ln>
        </p:spPr>
        <p:txBody>
          <a:bodyPr lIns="91440" tIns="91440" rIns="91440" bIns="91440" anchor="ctr">
            <a:normAutofit fontScale="70000" lnSpcReduction="19999"/>
          </a:bodyPr>
          <a:lstStyle/>
          <a:p>
            <a:pPr indent="0">
              <a:lnSpc>
                <a:spcPct val="100000"/>
              </a:lnSpc>
              <a:buNone/>
              <a:tabLst>
                <a:tab pos="0" algn="l"/>
              </a:tabLst>
            </a:pPr>
            <a:r>
              <a:rPr lang="en-US" sz="6500" b="0" i="1" u="none" strike="noStrike">
                <a:solidFill>
                  <a:schemeClr val="dk1"/>
                </a:solidFill>
                <a:effectLst/>
                <a:uFillTx/>
                <a:latin typeface="Calibri"/>
                <a:ea typeface="Viaoda Libre"/>
              </a:rPr>
              <a:t>01</a:t>
            </a:r>
            <a:endParaRPr lang="fr-FR" sz="6500" b="0" u="none" strike="noStrike">
              <a:solidFill>
                <a:schemeClr val="dk1"/>
              </a:solidFill>
              <a:effectLst/>
              <a:uFillTx/>
              <a:latin typeface="Arial"/>
            </a:endParaRPr>
          </a:p>
        </p:txBody>
      </p:sp>
      <p:sp>
        <p:nvSpPr>
          <p:cNvPr id="57" name="PlaceHolder 2"/>
          <p:cNvSpPr>
            <a:spLocks noGrp="1"/>
          </p:cNvSpPr>
          <p:nvPr>
            <p:ph type="title"/>
          </p:nvPr>
        </p:nvSpPr>
        <p:spPr>
          <a:xfrm>
            <a:off x="2476440" y="1790640"/>
            <a:ext cx="6210000" cy="29142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4800" b="0" u="none" strike="noStrike">
                <a:solidFill>
                  <a:schemeClr val="dk1"/>
                </a:solidFill>
                <a:effectLst/>
                <a:uFillTx/>
                <a:latin typeface="Viaoda Libre"/>
                <a:ea typeface="Viaoda Libre"/>
              </a:rPr>
              <a:t>Overview of the PING Command</a:t>
            </a:r>
            <a:endParaRPr lang="fr-FR" sz="4800" b="0" u="none" strike="noStrike">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1"/>
          <p:cNvSpPr>
            <a:spLocks noGrp="1"/>
          </p:cNvSpPr>
          <p:nvPr>
            <p:ph/>
          </p:nvPr>
        </p:nvSpPr>
        <p:spPr>
          <a:xfrm>
            <a:off x="847800" y="1200240"/>
            <a:ext cx="4619160" cy="2104560"/>
          </a:xfrm>
          <a:prstGeom prst="rect">
            <a:avLst/>
          </a:prstGeom>
          <a:noFill/>
          <a:ln w="0">
            <a:noFill/>
          </a:ln>
        </p:spPr>
        <p:txBody>
          <a:bodyPr lIns="91440" tIns="91440" rIns="91440" bIns="91440" anchor="t">
            <a:normAutofit fontScale="85000" lnSpcReduction="19999"/>
          </a:bodyPr>
          <a:lstStyle/>
          <a:p>
            <a:pPr indent="0">
              <a:lnSpc>
                <a:spcPct val="150000"/>
              </a:lnSpc>
              <a:buNone/>
              <a:tabLst>
                <a:tab pos="0" algn="l"/>
              </a:tabLst>
            </a:pPr>
            <a:r>
              <a:rPr lang="en-US" sz="1400" b="0" u="none" strike="noStrike">
                <a:solidFill>
                  <a:schemeClr val="dk1"/>
                </a:solidFill>
                <a:effectLst/>
                <a:uFillTx/>
                <a:latin typeface="Albert Sans"/>
                <a:ea typeface="Albert Sans"/>
              </a:rPr>
              <a:t>The PING command operates by sending </a:t>
            </a:r>
            <a:r>
              <a:rPr lang="en-US" sz="1400" b="0" i="1" u="none" strike="noStrike">
                <a:solidFill>
                  <a:schemeClr val="dk1"/>
                </a:solidFill>
                <a:effectLst/>
                <a:uFillTx/>
                <a:latin typeface="Albert Sans"/>
                <a:ea typeface="Albert Sans"/>
              </a:rPr>
              <a:t>ICMP echo request</a:t>
            </a:r>
            <a:r>
              <a:rPr lang="en-US" sz="1400" b="0" u="none" strike="noStrike">
                <a:solidFill>
                  <a:schemeClr val="dk1"/>
                </a:solidFill>
                <a:effectLst/>
                <a:uFillTx/>
                <a:latin typeface="Albert Sans"/>
                <a:ea typeface="Albert Sans"/>
              </a:rPr>
              <a:t> packets to a specific network device and awaiting a response. This process confirms the device’s availability and determines the </a:t>
            </a:r>
            <a:r>
              <a:rPr lang="en-US" sz="1400" b="1" u="none" strike="noStrike">
                <a:solidFill>
                  <a:schemeClr val="dk1"/>
                </a:solidFill>
                <a:effectLst/>
                <a:uFillTx/>
                <a:latin typeface="Albert Sans"/>
                <a:ea typeface="Albert Sans"/>
              </a:rPr>
              <a:t>round-trip time</a:t>
            </a:r>
            <a:r>
              <a:rPr lang="en-US" sz="1400" b="0" u="none" strike="noStrike">
                <a:solidFill>
                  <a:schemeClr val="dk1"/>
                </a:solidFill>
                <a:effectLst/>
                <a:uFillTx/>
                <a:latin typeface="Albert Sans"/>
                <a:ea typeface="Albert Sans"/>
              </a:rPr>
              <a:t> for communication.</a:t>
            </a:r>
            <a:endParaRPr lang="fr-FR" sz="1400" b="0" u="none" strike="noStrike">
              <a:solidFill>
                <a:srgbClr val="000000"/>
              </a:solidFill>
              <a:effectLst/>
              <a:uFillTx/>
              <a:latin typeface="Arial"/>
            </a:endParaRPr>
          </a:p>
          <a:p>
            <a:pPr indent="0">
              <a:lnSpc>
                <a:spcPct val="150000"/>
              </a:lnSpc>
              <a:buNone/>
              <a:tabLst>
                <a:tab pos="0" algn="l"/>
              </a:tabLst>
            </a:pPr>
            <a:r>
              <a:rPr lang="en-US" sz="1400" b="0" u="none" strike="noStrike">
                <a:solidFill>
                  <a:schemeClr val="dk1"/>
                </a:solidFill>
                <a:effectLst/>
                <a:uFillTx/>
                <a:latin typeface="Albert Sans"/>
                <a:ea typeface="Albert Sans"/>
              </a:rPr>
              <a:t>p</a:t>
            </a:r>
            <a:endParaRPr lang="fr-FR" sz="1400" b="0" u="none" strike="noStrike">
              <a:solidFill>
                <a:srgbClr val="000000"/>
              </a:solidFill>
              <a:effectLst/>
              <a:uFillTx/>
              <a:latin typeface="Arial"/>
            </a:endParaRPr>
          </a:p>
          <a:p>
            <a:pPr indent="0">
              <a:lnSpc>
                <a:spcPct val="150000"/>
              </a:lnSpc>
              <a:buNone/>
              <a:tabLst>
                <a:tab pos="0" algn="l"/>
              </a:tabLst>
            </a:pPr>
            <a:r>
              <a:rPr lang="en-US" sz="1400" b="0" u="none" strike="noStrike">
                <a:solidFill>
                  <a:schemeClr val="dk1"/>
                </a:solidFill>
                <a:effectLst/>
                <a:uFillTx/>
                <a:latin typeface="Albert Sans"/>
                <a:ea typeface="Albert Sans"/>
              </a:rPr>
              <a:t>/pIts primary purpose is to quickly verify network connectivity and assess latency, which is essential for diagnosing issues and monitoring network performance. This makes the PING command a foundational tool for ensuring efficient and reliable network operations.</a:t>
            </a:r>
            <a:endParaRPr lang="fr-FR" sz="1400" b="0" u="none" strike="noStrike">
              <a:solidFill>
                <a:srgbClr val="000000"/>
              </a:solidFill>
              <a:effectLst/>
              <a:uFillTx/>
              <a:latin typeface="Arial"/>
            </a:endParaRPr>
          </a:p>
        </p:txBody>
      </p:sp>
      <p:sp>
        <p:nvSpPr>
          <p:cNvPr id="59" name="PlaceHolder 2"/>
          <p:cNvSpPr>
            <a:spLocks noGrp="1"/>
          </p:cNvSpPr>
          <p:nvPr>
            <p:ph type="title"/>
          </p:nvPr>
        </p:nvSpPr>
        <p:spPr>
          <a:xfrm>
            <a:off x="514440" y="209520"/>
            <a:ext cx="8115120" cy="64728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300" b="0" u="none" strike="noStrike">
                <a:solidFill>
                  <a:schemeClr val="dk1"/>
                </a:solidFill>
                <a:effectLst/>
                <a:uFillTx/>
                <a:latin typeface="Viaoda Libre"/>
                <a:ea typeface="Viaoda Libre"/>
              </a:rPr>
              <a:t>Definition and</a:t>
            </a:r>
            <a:r>
              <a:rPr lang="en-US" sz="3300" b="0" i="1" u="none" strike="noStrike">
                <a:solidFill>
                  <a:schemeClr val="dk1"/>
                </a:solidFill>
                <a:effectLst/>
                <a:uFillTx/>
                <a:latin typeface="Viaoda Libre"/>
                <a:ea typeface="Viaoda Libre"/>
              </a:rPr>
              <a:t> Purpose</a:t>
            </a:r>
            <a:endParaRPr lang="fr-FR" sz="3300" b="0" u="none" strike="noStrike">
              <a:solidFill>
                <a:schemeClr val="dk1"/>
              </a:solidFill>
              <a:effectLst/>
              <a:uFillTx/>
              <a:latin typeface="Arial"/>
            </a:endParaRPr>
          </a:p>
        </p:txBody>
      </p:sp>
      <p:pic>
        <p:nvPicPr>
          <p:cNvPr id="60" name="Google Shape;184;p31"/>
          <p:cNvPicPr/>
          <p:nvPr/>
        </p:nvPicPr>
        <p:blipFill>
          <a:blip r:embed="rId2"/>
          <a:srcRect l="20913" r="40199" b="19910"/>
          <a:stretch/>
        </p:blipFill>
        <p:spPr>
          <a:xfrm>
            <a:off x="5782680" y="1249560"/>
            <a:ext cx="3360960" cy="389376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3448080"/>
            <a:ext cx="8115120" cy="12758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300" b="0" u="none" strike="noStrike">
                <a:solidFill>
                  <a:schemeClr val="dk1"/>
                </a:solidFill>
                <a:effectLst/>
                <a:uFillTx/>
                <a:latin typeface="Viaoda Libre"/>
                <a:ea typeface="Viaoda Libre"/>
              </a:rPr>
              <a:t>How PING</a:t>
            </a:r>
            <a:r>
              <a:rPr lang="en-US" sz="3300" b="0" i="1" u="none" strike="noStrike">
                <a:solidFill>
                  <a:schemeClr val="dk1"/>
                </a:solidFill>
                <a:effectLst/>
                <a:uFillTx/>
                <a:latin typeface="Viaoda Libre"/>
                <a:ea typeface="Viaoda Libre"/>
              </a:rPr>
              <a:t> Works</a:t>
            </a:r>
            <a:endParaRPr lang="fr-FR" sz="3300" b="0" u="none" strike="noStrike">
              <a:solidFill>
                <a:schemeClr val="dk1"/>
              </a:solidFill>
              <a:effectLst/>
              <a:uFillTx/>
              <a:latin typeface="Arial"/>
            </a:endParaRPr>
          </a:p>
        </p:txBody>
      </p:sp>
      <p:sp>
        <p:nvSpPr>
          <p:cNvPr id="62" name="PlaceHolder 2"/>
          <p:cNvSpPr>
            <a:spLocks noGrp="1"/>
          </p:cNvSpPr>
          <p:nvPr>
            <p:ph type="subTitle"/>
          </p:nvPr>
        </p:nvSpPr>
        <p:spPr>
          <a:xfrm>
            <a:off x="923760" y="1247760"/>
            <a:ext cx="7295760" cy="1885680"/>
          </a:xfrm>
          <a:prstGeom prst="rect">
            <a:avLst/>
          </a:prstGeom>
          <a:noFill/>
          <a:ln w="0">
            <a:noFill/>
          </a:ln>
        </p:spPr>
        <p:txBody>
          <a:bodyPr lIns="91440" tIns="91440" rIns="91440" bIns="91440" anchor="t">
            <a:normAutofit fontScale="92500" lnSpcReduction="19999"/>
          </a:bodyPr>
          <a:lstStyle/>
          <a:p>
            <a:pPr indent="0">
              <a:lnSpc>
                <a:spcPct val="150000"/>
              </a:lnSpc>
              <a:buNone/>
              <a:tabLst>
                <a:tab pos="0" algn="l"/>
              </a:tabLst>
            </a:pPr>
            <a:r>
              <a:rPr lang="en-US" sz="1400" b="0" u="none" strike="noStrike">
                <a:solidFill>
                  <a:schemeClr val="dk1"/>
                </a:solidFill>
                <a:effectLst/>
                <a:uFillTx/>
                <a:latin typeface="Albert Sans"/>
                <a:ea typeface="Albert Sans"/>
              </a:rPr>
              <a:t>PING functions by sending an </a:t>
            </a:r>
            <a:r>
              <a:rPr lang="en-US" sz="1400" b="0" i="1" u="none" strike="noStrike">
                <a:solidFill>
                  <a:schemeClr val="dk1"/>
                </a:solidFill>
                <a:effectLst/>
                <a:uFillTx/>
                <a:latin typeface="Albert Sans"/>
                <a:ea typeface="Albert Sans"/>
              </a:rPr>
              <a:t>ICMP echo request</a:t>
            </a:r>
            <a:r>
              <a:rPr lang="en-US" sz="1400" b="0" u="none" strike="noStrike">
                <a:solidFill>
                  <a:schemeClr val="dk1"/>
                </a:solidFill>
                <a:effectLst/>
                <a:uFillTx/>
                <a:latin typeface="Albert Sans"/>
                <a:ea typeface="Albert Sans"/>
              </a:rPr>
              <a:t> packet to the targeted device and awaiting an </a:t>
            </a:r>
            <a:r>
              <a:rPr lang="en-US" sz="1400" b="0" i="1" u="none" strike="noStrike">
                <a:solidFill>
                  <a:schemeClr val="dk1"/>
                </a:solidFill>
                <a:effectLst/>
                <a:uFillTx/>
                <a:latin typeface="Albert Sans"/>
                <a:ea typeface="Albert Sans"/>
              </a:rPr>
              <a:t>echo reply</a:t>
            </a:r>
            <a:r>
              <a:rPr lang="en-US" sz="1400" b="0" u="none" strike="noStrike">
                <a:solidFill>
                  <a:schemeClr val="dk1"/>
                </a:solidFill>
                <a:effectLst/>
                <a:uFillTx/>
                <a:latin typeface="Albert Sans"/>
                <a:ea typeface="Albert Sans"/>
              </a:rPr>
              <a:t>. This interaction enables the calculation of </a:t>
            </a:r>
            <a:r>
              <a:rPr lang="en-US" sz="1400" b="1" u="none" strike="noStrike">
                <a:solidFill>
                  <a:schemeClr val="dk1"/>
                </a:solidFill>
                <a:effectLst/>
                <a:uFillTx/>
                <a:latin typeface="Albert Sans"/>
                <a:ea typeface="Albert Sans"/>
              </a:rPr>
              <a:t>round-trip time</a:t>
            </a:r>
            <a:r>
              <a:rPr lang="en-US" sz="1400" b="0" u="none" strike="noStrike">
                <a:solidFill>
                  <a:schemeClr val="dk1"/>
                </a:solidFill>
                <a:effectLst/>
                <a:uFillTx/>
                <a:latin typeface="Albert Sans"/>
                <a:ea typeface="Albert Sans"/>
              </a:rPr>
              <a:t>, which is a key indicator of network latency and responsiveness.</a:t>
            </a:r>
            <a:endParaRPr lang="en-US" sz="1400" b="0" u="none" strike="noStrike">
              <a:solidFill>
                <a:srgbClr val="000000"/>
              </a:solidFill>
              <a:effectLst/>
              <a:uFillTx/>
              <a:latin typeface="OpenSymbol"/>
            </a:endParaRPr>
          </a:p>
          <a:p>
            <a:pPr indent="0">
              <a:lnSpc>
                <a:spcPct val="150000"/>
              </a:lnSpc>
              <a:buNone/>
              <a:tabLst>
                <a:tab pos="0" algn="l"/>
              </a:tabLst>
            </a:pPr>
            <a:r>
              <a:rPr lang="en-US" sz="1400" b="0" u="none" strike="noStrike">
                <a:solidFill>
                  <a:schemeClr val="dk1"/>
                </a:solidFill>
                <a:effectLst/>
                <a:uFillTx/>
                <a:latin typeface="Albert Sans"/>
                <a:ea typeface="Albert Sans"/>
              </a:rPr>
              <a:t>p</a:t>
            </a:r>
            <a:endParaRPr lang="en-US" sz="1400" b="0" u="none" strike="noStrike">
              <a:solidFill>
                <a:srgbClr val="000000"/>
              </a:solidFill>
              <a:effectLst/>
              <a:uFillTx/>
              <a:latin typeface="OpenSymbol"/>
            </a:endParaRPr>
          </a:p>
          <a:p>
            <a:pPr indent="0">
              <a:lnSpc>
                <a:spcPct val="150000"/>
              </a:lnSpc>
              <a:buNone/>
              <a:tabLst>
                <a:tab pos="0" algn="l"/>
              </a:tabLst>
            </a:pPr>
            <a:r>
              <a:rPr lang="en-US" sz="1400" b="0" u="none" strike="noStrike">
                <a:solidFill>
                  <a:schemeClr val="dk1"/>
                </a:solidFill>
                <a:effectLst/>
                <a:uFillTx/>
                <a:latin typeface="Albert Sans"/>
                <a:ea typeface="Albert Sans"/>
              </a:rPr>
              <a:t>/pIf the target device fails to respond, it typically signals connectivity problems such as device unavailability or network interruptions. This process is fundamental for diagnosing network health, helping administrators identify and address issues swiftly to maintain optimal performance.</a:t>
            </a:r>
            <a:endParaRPr lang="en-US" sz="14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3448080"/>
            <a:ext cx="8115120" cy="12758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300" b="0" u="none" strike="noStrike">
                <a:solidFill>
                  <a:schemeClr val="dk1"/>
                </a:solidFill>
                <a:effectLst/>
                <a:uFillTx/>
                <a:latin typeface="Viaoda Libre"/>
                <a:ea typeface="Viaoda Libre"/>
              </a:rPr>
              <a:t>Common Use</a:t>
            </a:r>
            <a:r>
              <a:rPr lang="en-US" sz="3300" b="0" i="1" u="none" strike="noStrike">
                <a:solidFill>
                  <a:schemeClr val="dk1"/>
                </a:solidFill>
                <a:effectLst/>
                <a:uFillTx/>
                <a:latin typeface="Viaoda Libre"/>
                <a:ea typeface="Viaoda Libre"/>
              </a:rPr>
              <a:t> Cases</a:t>
            </a:r>
            <a:endParaRPr lang="fr-FR" sz="3300" b="0" u="none" strike="noStrike">
              <a:solidFill>
                <a:schemeClr val="dk1"/>
              </a:solidFill>
              <a:effectLst/>
              <a:uFillTx/>
              <a:latin typeface="Arial"/>
            </a:endParaRPr>
          </a:p>
        </p:txBody>
      </p:sp>
      <p:sp>
        <p:nvSpPr>
          <p:cNvPr id="64" name="PlaceHolder 2"/>
          <p:cNvSpPr>
            <a:spLocks noGrp="1"/>
          </p:cNvSpPr>
          <p:nvPr>
            <p:ph type="subTitle"/>
          </p:nvPr>
        </p:nvSpPr>
        <p:spPr>
          <a:xfrm>
            <a:off x="923760" y="1247760"/>
            <a:ext cx="7295760" cy="1885680"/>
          </a:xfrm>
          <a:prstGeom prst="rect">
            <a:avLst/>
          </a:prstGeom>
          <a:noFill/>
          <a:ln w="0">
            <a:noFill/>
          </a:ln>
        </p:spPr>
        <p:txBody>
          <a:bodyPr lIns="91440" tIns="91440" rIns="91440" bIns="91440" anchor="t">
            <a:normAutofit fontScale="92500" lnSpcReduction="19999"/>
          </a:bodyPr>
          <a:lstStyle/>
          <a:p>
            <a:pPr indent="0">
              <a:lnSpc>
                <a:spcPct val="150000"/>
              </a:lnSpc>
              <a:buNone/>
              <a:tabLst>
                <a:tab pos="0" algn="l"/>
              </a:tabLst>
            </a:pPr>
            <a:r>
              <a:rPr lang="en-US" sz="1400" b="0" u="none" strike="noStrike">
                <a:solidFill>
                  <a:schemeClr val="dk1"/>
                </a:solidFill>
                <a:effectLst/>
                <a:uFillTx/>
                <a:latin typeface="Albert Sans"/>
                <a:ea typeface="Albert Sans"/>
              </a:rPr>
              <a:t>The PING command is an essential tool for </a:t>
            </a:r>
            <a:r>
              <a:rPr lang="en-US" sz="1400" b="1" u="none" strike="noStrike">
                <a:solidFill>
                  <a:schemeClr val="dk1"/>
                </a:solidFill>
                <a:effectLst/>
                <a:uFillTx/>
                <a:latin typeface="Albert Sans"/>
                <a:ea typeface="Albert Sans"/>
              </a:rPr>
              <a:t>network troubleshooting</a:t>
            </a:r>
            <a:r>
              <a:rPr lang="en-US" sz="1400" b="0" u="none" strike="noStrike">
                <a:solidFill>
                  <a:schemeClr val="dk1"/>
                </a:solidFill>
                <a:effectLst/>
                <a:uFillTx/>
                <a:latin typeface="Albert Sans"/>
                <a:ea typeface="Albert Sans"/>
              </a:rPr>
              <a:t>, allowing administrators to verify if a device is active and reachable within the network. It plays a critical role in </a:t>
            </a:r>
            <a:r>
              <a:rPr lang="en-US" sz="1400" b="1" u="none" strike="noStrike">
                <a:solidFill>
                  <a:schemeClr val="dk1"/>
                </a:solidFill>
                <a:effectLst/>
                <a:uFillTx/>
                <a:latin typeface="Albert Sans"/>
                <a:ea typeface="Albert Sans"/>
              </a:rPr>
              <a:t>latency measurement</a:t>
            </a:r>
            <a:r>
              <a:rPr lang="en-US" sz="1400" b="0" u="none" strike="noStrike">
                <a:solidFill>
                  <a:schemeClr val="dk1"/>
                </a:solidFill>
                <a:effectLst/>
                <a:uFillTx/>
                <a:latin typeface="Albert Sans"/>
                <a:ea typeface="Albert Sans"/>
              </a:rPr>
              <a:t>, helping assess the speed and responsiveness of network connections.</a:t>
            </a:r>
            <a:endParaRPr lang="en-US" sz="1400" b="0" u="none" strike="noStrike">
              <a:solidFill>
                <a:srgbClr val="000000"/>
              </a:solidFill>
              <a:effectLst/>
              <a:uFillTx/>
              <a:latin typeface="OpenSymbol"/>
            </a:endParaRPr>
          </a:p>
          <a:p>
            <a:pPr indent="0">
              <a:lnSpc>
                <a:spcPct val="150000"/>
              </a:lnSpc>
              <a:buNone/>
              <a:tabLst>
                <a:tab pos="0" algn="l"/>
              </a:tabLst>
            </a:pPr>
            <a:r>
              <a:rPr lang="en-US" sz="1400" b="0" u="none" strike="noStrike">
                <a:solidFill>
                  <a:schemeClr val="dk1"/>
                </a:solidFill>
                <a:effectLst/>
                <a:uFillTx/>
                <a:latin typeface="Albert Sans"/>
                <a:ea typeface="Albert Sans"/>
              </a:rPr>
              <a:t>p</a:t>
            </a:r>
            <a:endParaRPr lang="en-US" sz="1400" b="0" u="none" strike="noStrike">
              <a:solidFill>
                <a:srgbClr val="000000"/>
              </a:solidFill>
              <a:effectLst/>
              <a:uFillTx/>
              <a:latin typeface="OpenSymbol"/>
            </a:endParaRPr>
          </a:p>
          <a:p>
            <a:pPr indent="0">
              <a:lnSpc>
                <a:spcPct val="150000"/>
              </a:lnSpc>
              <a:buNone/>
              <a:tabLst>
                <a:tab pos="0" algn="l"/>
              </a:tabLst>
            </a:pPr>
            <a:r>
              <a:rPr lang="en-US" sz="1400" b="0" u="none" strike="noStrike">
                <a:solidFill>
                  <a:schemeClr val="dk1"/>
                </a:solidFill>
                <a:effectLst/>
                <a:uFillTx/>
                <a:latin typeface="Albert Sans"/>
                <a:ea typeface="Albert Sans"/>
              </a:rPr>
              <a:t>/pMoreover, PING assists in detecting </a:t>
            </a:r>
            <a:r>
              <a:rPr lang="en-US" sz="1400" b="1" u="none" strike="noStrike">
                <a:solidFill>
                  <a:schemeClr val="dk1"/>
                </a:solidFill>
                <a:effectLst/>
                <a:uFillTx/>
                <a:latin typeface="Albert Sans"/>
                <a:ea typeface="Albert Sans"/>
              </a:rPr>
              <a:t>packet loss</a:t>
            </a:r>
            <a:r>
              <a:rPr lang="en-US" sz="1400" b="0" u="none" strike="noStrike">
                <a:solidFill>
                  <a:schemeClr val="dk1"/>
                </a:solidFill>
                <a:effectLst/>
                <a:uFillTx/>
                <a:latin typeface="Albert Sans"/>
                <a:ea typeface="Albert Sans"/>
              </a:rPr>
              <a:t>, which is vital for evaluating network stability and performance. These capabilities make it indispensable for maintaining reliability both in local and remote network environments.</a:t>
            </a:r>
            <a:endParaRPr lang="en-US" sz="14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438120"/>
            <a:ext cx="1294920" cy="761760"/>
          </a:xfrm>
          <a:prstGeom prst="rect">
            <a:avLst/>
          </a:prstGeom>
          <a:noFill/>
          <a:ln w="0">
            <a:noFill/>
          </a:ln>
        </p:spPr>
        <p:txBody>
          <a:bodyPr lIns="91440" tIns="91440" rIns="91440" bIns="91440" anchor="ctr">
            <a:normAutofit fontScale="70000" lnSpcReduction="19999"/>
          </a:bodyPr>
          <a:lstStyle/>
          <a:p>
            <a:pPr indent="0">
              <a:lnSpc>
                <a:spcPct val="100000"/>
              </a:lnSpc>
              <a:buNone/>
              <a:tabLst>
                <a:tab pos="0" algn="l"/>
              </a:tabLst>
            </a:pPr>
            <a:r>
              <a:rPr lang="en-US" sz="6500" b="0" i="1" u="none" strike="noStrike">
                <a:solidFill>
                  <a:schemeClr val="dk1"/>
                </a:solidFill>
                <a:effectLst/>
                <a:uFillTx/>
                <a:latin typeface="Calibri"/>
                <a:ea typeface="Viaoda Libre"/>
              </a:rPr>
              <a:t>02</a:t>
            </a:r>
            <a:endParaRPr lang="fr-FR" sz="6500" b="0" u="none" strike="noStrike">
              <a:solidFill>
                <a:schemeClr val="dk1"/>
              </a:solidFill>
              <a:effectLst/>
              <a:uFillTx/>
              <a:latin typeface="Arial"/>
            </a:endParaRPr>
          </a:p>
        </p:txBody>
      </p:sp>
      <p:sp>
        <p:nvSpPr>
          <p:cNvPr id="66" name="PlaceHolder 2"/>
          <p:cNvSpPr>
            <a:spLocks noGrp="1"/>
          </p:cNvSpPr>
          <p:nvPr>
            <p:ph type="title"/>
          </p:nvPr>
        </p:nvSpPr>
        <p:spPr>
          <a:xfrm>
            <a:off x="2476440" y="1790640"/>
            <a:ext cx="6210000" cy="29142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4800" b="0" u="none" strike="noStrike">
                <a:solidFill>
                  <a:schemeClr val="dk1"/>
                </a:solidFill>
                <a:effectLst/>
                <a:uFillTx/>
                <a:latin typeface="Viaoda Libre"/>
                <a:ea typeface="Viaoda Libre"/>
              </a:rPr>
              <a:t>Connectivity Testing with PING</a:t>
            </a:r>
            <a:endParaRPr lang="fr-FR" sz="4800" b="0" u="none" strike="noStrike">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3448080"/>
            <a:ext cx="8115120" cy="12758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300" b="0" u="none" strike="noStrike">
                <a:solidFill>
                  <a:schemeClr val="dk1"/>
                </a:solidFill>
                <a:effectLst/>
                <a:uFillTx/>
                <a:latin typeface="Viaoda Libre"/>
                <a:ea typeface="Viaoda Libre"/>
              </a:rPr>
              <a:t>Measuring Network</a:t>
            </a:r>
            <a:r>
              <a:rPr lang="en-US" sz="3300" b="0" i="1" u="none" strike="noStrike">
                <a:solidFill>
                  <a:schemeClr val="dk1"/>
                </a:solidFill>
                <a:effectLst/>
                <a:uFillTx/>
                <a:latin typeface="Viaoda Libre"/>
                <a:ea typeface="Viaoda Libre"/>
              </a:rPr>
              <a:t> Availability</a:t>
            </a:r>
            <a:endParaRPr lang="fr-FR" sz="3300" b="0" u="none" strike="noStrike">
              <a:solidFill>
                <a:schemeClr val="dk1"/>
              </a:solidFill>
              <a:effectLst/>
              <a:uFillTx/>
              <a:latin typeface="Arial"/>
            </a:endParaRPr>
          </a:p>
        </p:txBody>
      </p:sp>
      <p:sp>
        <p:nvSpPr>
          <p:cNvPr id="68" name="PlaceHolder 2"/>
          <p:cNvSpPr>
            <a:spLocks noGrp="1"/>
          </p:cNvSpPr>
          <p:nvPr>
            <p:ph type="subTitle"/>
          </p:nvPr>
        </p:nvSpPr>
        <p:spPr>
          <a:xfrm>
            <a:off x="923760" y="1247760"/>
            <a:ext cx="7295760" cy="1885680"/>
          </a:xfrm>
          <a:prstGeom prst="rect">
            <a:avLst/>
          </a:prstGeom>
          <a:noFill/>
          <a:ln w="0">
            <a:noFill/>
          </a:ln>
        </p:spPr>
        <p:txBody>
          <a:bodyPr lIns="91440" tIns="91440" rIns="91440" bIns="91440" anchor="t">
            <a:normAutofit fontScale="92500" lnSpcReduction="9999"/>
          </a:bodyPr>
          <a:lstStyle/>
          <a:p>
            <a:pPr indent="0">
              <a:lnSpc>
                <a:spcPct val="150000"/>
              </a:lnSpc>
              <a:buNone/>
              <a:tabLst>
                <a:tab pos="0" algn="l"/>
              </a:tabLst>
            </a:pPr>
            <a:r>
              <a:rPr lang="en-US" sz="1400" b="0" u="none" strike="noStrike">
                <a:solidFill>
                  <a:schemeClr val="dk1"/>
                </a:solidFill>
                <a:effectLst/>
                <a:uFillTx/>
                <a:latin typeface="Albert Sans"/>
                <a:ea typeface="Albert Sans"/>
              </a:rPr>
              <a:t>PING verifies network availability by sending packets to a host and measuring its response time. This process confirms whether a device is reachable and operational within the network.</a:t>
            </a:r>
            <a:endParaRPr lang="en-US" sz="1400" b="0" u="none" strike="noStrike">
              <a:solidFill>
                <a:srgbClr val="000000"/>
              </a:solidFill>
              <a:effectLst/>
              <a:uFillTx/>
              <a:latin typeface="OpenSymbol"/>
            </a:endParaRPr>
          </a:p>
          <a:p>
            <a:pPr indent="0">
              <a:lnSpc>
                <a:spcPct val="150000"/>
              </a:lnSpc>
              <a:buNone/>
              <a:tabLst>
                <a:tab pos="0" algn="l"/>
              </a:tabLst>
            </a:pPr>
            <a:r>
              <a:rPr lang="en-US" sz="1400" b="0" u="none" strike="noStrike">
                <a:solidFill>
                  <a:schemeClr val="dk1"/>
                </a:solidFill>
                <a:effectLst/>
                <a:uFillTx/>
                <a:latin typeface="Albert Sans"/>
                <a:ea typeface="Albert Sans"/>
              </a:rPr>
              <a:t>p</a:t>
            </a:r>
            <a:endParaRPr lang="en-US" sz="1400" b="0" u="none" strike="noStrike">
              <a:solidFill>
                <a:srgbClr val="000000"/>
              </a:solidFill>
              <a:effectLst/>
              <a:uFillTx/>
              <a:latin typeface="OpenSymbol"/>
            </a:endParaRPr>
          </a:p>
          <a:p>
            <a:pPr indent="0">
              <a:lnSpc>
                <a:spcPct val="150000"/>
              </a:lnSpc>
              <a:buNone/>
              <a:tabLst>
                <a:tab pos="0" algn="l"/>
              </a:tabLst>
            </a:pPr>
            <a:r>
              <a:rPr lang="en-US" sz="1400" b="0" u="none" strike="noStrike">
                <a:solidFill>
                  <a:schemeClr val="dk1"/>
                </a:solidFill>
                <a:effectLst/>
                <a:uFillTx/>
                <a:latin typeface="Albert Sans"/>
                <a:ea typeface="Albert Sans"/>
              </a:rPr>
              <a:t>/pAccurate measurement of response times helps ensure </a:t>
            </a:r>
            <a:r>
              <a:rPr lang="en-US" sz="1400" b="1" u="none" strike="noStrike">
                <a:solidFill>
                  <a:schemeClr val="dk1"/>
                </a:solidFill>
                <a:effectLst/>
                <a:uFillTx/>
                <a:latin typeface="Albert Sans"/>
                <a:ea typeface="Albert Sans"/>
              </a:rPr>
              <a:t>network reliability</a:t>
            </a:r>
            <a:r>
              <a:rPr lang="en-US" sz="1400" b="0" u="none" strike="noStrike">
                <a:solidFill>
                  <a:schemeClr val="dk1"/>
                </a:solidFill>
                <a:effectLst/>
                <a:uFillTx/>
                <a:latin typeface="Albert Sans"/>
                <a:ea typeface="Albert Sans"/>
              </a:rPr>
              <a:t> by identifying potential disruptions early. Maintaining uninterrupted communication between systems depends on this timely and efficient verification, making PING an indispensable tool for network administrators.</a:t>
            </a:r>
            <a:endParaRPr lang="en-US" sz="14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3448080"/>
            <a:ext cx="8115120" cy="12758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300" b="0" u="none" strike="noStrike">
                <a:solidFill>
                  <a:schemeClr val="dk1"/>
                </a:solidFill>
                <a:effectLst/>
                <a:uFillTx/>
                <a:latin typeface="Viaoda Libre"/>
                <a:ea typeface="Viaoda Libre"/>
              </a:rPr>
              <a:t>Diagnosing Network</a:t>
            </a:r>
            <a:r>
              <a:rPr lang="en-US" sz="3300" b="0" i="1" u="none" strike="noStrike">
                <a:solidFill>
                  <a:schemeClr val="dk1"/>
                </a:solidFill>
                <a:effectLst/>
                <a:uFillTx/>
                <a:latin typeface="Viaoda Libre"/>
                <a:ea typeface="Viaoda Libre"/>
              </a:rPr>
              <a:t> Issues</a:t>
            </a:r>
            <a:endParaRPr lang="fr-FR" sz="3300" b="0" u="none" strike="noStrike">
              <a:solidFill>
                <a:schemeClr val="dk1"/>
              </a:solidFill>
              <a:effectLst/>
              <a:uFillTx/>
              <a:latin typeface="Arial"/>
            </a:endParaRPr>
          </a:p>
        </p:txBody>
      </p:sp>
      <p:sp>
        <p:nvSpPr>
          <p:cNvPr id="70" name="PlaceHolder 2"/>
          <p:cNvSpPr>
            <a:spLocks noGrp="1"/>
          </p:cNvSpPr>
          <p:nvPr>
            <p:ph type="subTitle"/>
          </p:nvPr>
        </p:nvSpPr>
        <p:spPr>
          <a:xfrm>
            <a:off x="923760" y="1247760"/>
            <a:ext cx="7295760" cy="1885680"/>
          </a:xfrm>
          <a:prstGeom prst="rect">
            <a:avLst/>
          </a:prstGeom>
          <a:noFill/>
          <a:ln w="0">
            <a:noFill/>
          </a:ln>
        </p:spPr>
        <p:txBody>
          <a:bodyPr lIns="91440" tIns="91440" rIns="91440" bIns="91440" anchor="t">
            <a:normAutofit fontScale="92500" lnSpcReduction="19999"/>
          </a:bodyPr>
          <a:lstStyle/>
          <a:p>
            <a:pPr indent="0">
              <a:lnSpc>
                <a:spcPct val="150000"/>
              </a:lnSpc>
              <a:buNone/>
              <a:tabLst>
                <a:tab pos="0" algn="l"/>
              </a:tabLst>
            </a:pPr>
            <a:r>
              <a:rPr lang="en-US" sz="1400" b="0" u="none" strike="noStrike">
                <a:solidFill>
                  <a:schemeClr val="dk1"/>
                </a:solidFill>
                <a:effectLst/>
                <a:uFillTx/>
                <a:latin typeface="Albert Sans"/>
                <a:ea typeface="Albert Sans"/>
              </a:rPr>
              <a:t>Analyzing PING responses allows users to pinpoint various network problems such as congestion, packet loss, or unreachable hosts. Variations in response times and failed replies often indicate underlying issues affecting connectivity.</a:t>
            </a:r>
            <a:endParaRPr lang="en-US" sz="1400" b="0" u="none" strike="noStrike">
              <a:solidFill>
                <a:srgbClr val="000000"/>
              </a:solidFill>
              <a:effectLst/>
              <a:uFillTx/>
              <a:latin typeface="OpenSymbol"/>
            </a:endParaRPr>
          </a:p>
          <a:p>
            <a:pPr indent="0">
              <a:lnSpc>
                <a:spcPct val="150000"/>
              </a:lnSpc>
              <a:buNone/>
              <a:tabLst>
                <a:tab pos="0" algn="l"/>
              </a:tabLst>
            </a:pPr>
            <a:r>
              <a:rPr lang="en-US" sz="1400" b="0" u="none" strike="noStrike">
                <a:solidFill>
                  <a:schemeClr val="dk1"/>
                </a:solidFill>
                <a:effectLst/>
                <a:uFillTx/>
                <a:latin typeface="Albert Sans"/>
                <a:ea typeface="Albert Sans"/>
              </a:rPr>
              <a:t>p</a:t>
            </a:r>
            <a:endParaRPr lang="en-US" sz="1400" b="0" u="none" strike="noStrike">
              <a:solidFill>
                <a:srgbClr val="000000"/>
              </a:solidFill>
              <a:effectLst/>
              <a:uFillTx/>
              <a:latin typeface="OpenSymbol"/>
            </a:endParaRPr>
          </a:p>
          <a:p>
            <a:pPr indent="0">
              <a:lnSpc>
                <a:spcPct val="150000"/>
              </a:lnSpc>
              <a:buNone/>
              <a:tabLst>
                <a:tab pos="0" algn="l"/>
              </a:tabLst>
            </a:pPr>
            <a:r>
              <a:rPr lang="en-US" sz="1400" b="0" u="none" strike="noStrike">
                <a:solidFill>
                  <a:schemeClr val="dk1"/>
                </a:solidFill>
                <a:effectLst/>
                <a:uFillTx/>
                <a:latin typeface="Albert Sans"/>
                <a:ea typeface="Albert Sans"/>
              </a:rPr>
              <a:t>/pThis diagnostic tool helps identify hardware malfunctions, misconfigurations, and routing errors that can degrade network performance. By using PING effectively, network administrators can quickly isolate problems and implement targeted solutions to maintain optimal network health.</a:t>
            </a:r>
            <a:endParaRPr lang="en-US" sz="1400" b="0" u="none" strike="noStrike">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p:nvPr>
        </p:nvSpPr>
        <p:spPr>
          <a:xfrm>
            <a:off x="847800" y="1200240"/>
            <a:ext cx="4619160" cy="2104560"/>
          </a:xfrm>
          <a:prstGeom prst="rect">
            <a:avLst/>
          </a:prstGeom>
          <a:noFill/>
          <a:ln w="0">
            <a:noFill/>
          </a:ln>
        </p:spPr>
        <p:txBody>
          <a:bodyPr lIns="91440" tIns="91440" rIns="91440" bIns="91440" anchor="t">
            <a:normAutofit fontScale="77500" lnSpcReduction="19999"/>
          </a:bodyPr>
          <a:lstStyle/>
          <a:p>
            <a:pPr indent="0">
              <a:lnSpc>
                <a:spcPct val="150000"/>
              </a:lnSpc>
              <a:buNone/>
              <a:tabLst>
                <a:tab pos="0" algn="l"/>
              </a:tabLst>
            </a:pPr>
            <a:r>
              <a:rPr lang="en-US" sz="1400" b="0" u="none" strike="noStrike">
                <a:solidFill>
                  <a:schemeClr val="dk1"/>
                </a:solidFill>
                <a:effectLst/>
                <a:uFillTx/>
                <a:latin typeface="Albert Sans"/>
                <a:ea typeface="Albert Sans"/>
              </a:rPr>
              <a:t>PING results provide critical insights through </a:t>
            </a:r>
            <a:r>
              <a:rPr lang="en-US" sz="1400" b="0" i="1" u="none" strike="noStrike">
                <a:solidFill>
                  <a:schemeClr val="dk1"/>
                </a:solidFill>
                <a:effectLst/>
                <a:uFillTx/>
                <a:latin typeface="Albert Sans"/>
                <a:ea typeface="Albert Sans"/>
              </a:rPr>
              <a:t>round-trip time</a:t>
            </a:r>
            <a:r>
              <a:rPr lang="en-US" sz="1400" b="0" u="none" strike="noStrike">
                <a:solidFill>
                  <a:schemeClr val="dk1"/>
                </a:solidFill>
                <a:effectLst/>
                <a:uFillTx/>
                <a:latin typeface="Albert Sans"/>
                <a:ea typeface="Albert Sans"/>
              </a:rPr>
              <a:t> and </a:t>
            </a:r>
            <a:r>
              <a:rPr lang="en-US" sz="1400" b="0" i="1" u="none" strike="noStrike">
                <a:solidFill>
                  <a:schemeClr val="dk1"/>
                </a:solidFill>
                <a:effectLst/>
                <a:uFillTx/>
                <a:latin typeface="Albert Sans"/>
                <a:ea typeface="Albert Sans"/>
              </a:rPr>
              <a:t>packet loss</a:t>
            </a:r>
            <a:r>
              <a:rPr lang="en-US" sz="1400" b="0" u="none" strike="noStrike">
                <a:solidFill>
                  <a:schemeClr val="dk1"/>
                </a:solidFill>
                <a:effectLst/>
                <a:uFillTx/>
                <a:latin typeface="Albert Sans"/>
                <a:ea typeface="Albert Sans"/>
              </a:rPr>
              <a:t> statistics, which reflect network health. A network exhibiting low latency and zero packet loss is considered stable and efficient.</a:t>
            </a:r>
            <a:endParaRPr lang="fr-FR" sz="1400" b="0" u="none" strike="noStrike">
              <a:solidFill>
                <a:srgbClr val="000000"/>
              </a:solidFill>
              <a:effectLst/>
              <a:uFillTx/>
              <a:latin typeface="Arial"/>
            </a:endParaRPr>
          </a:p>
          <a:p>
            <a:pPr indent="0">
              <a:lnSpc>
                <a:spcPct val="150000"/>
              </a:lnSpc>
              <a:buNone/>
              <a:tabLst>
                <a:tab pos="0" algn="l"/>
              </a:tabLst>
            </a:pPr>
            <a:r>
              <a:rPr lang="en-US" sz="1400" b="0" u="none" strike="noStrike">
                <a:solidFill>
                  <a:schemeClr val="dk1"/>
                </a:solidFill>
                <a:effectLst/>
                <a:uFillTx/>
                <a:latin typeface="Albert Sans"/>
                <a:ea typeface="Albert Sans"/>
              </a:rPr>
              <a:t>p</a:t>
            </a:r>
            <a:endParaRPr lang="fr-FR" sz="1400" b="0" u="none" strike="noStrike">
              <a:solidFill>
                <a:srgbClr val="000000"/>
              </a:solidFill>
              <a:effectLst/>
              <a:uFillTx/>
              <a:latin typeface="Arial"/>
            </a:endParaRPr>
          </a:p>
          <a:p>
            <a:pPr indent="0">
              <a:lnSpc>
                <a:spcPct val="150000"/>
              </a:lnSpc>
              <a:buNone/>
              <a:tabLst>
                <a:tab pos="0" algn="l"/>
              </a:tabLst>
            </a:pPr>
            <a:r>
              <a:rPr lang="en-US" sz="1400" b="0" u="none" strike="noStrike">
                <a:solidFill>
                  <a:schemeClr val="dk1"/>
                </a:solidFill>
                <a:effectLst/>
                <a:uFillTx/>
                <a:latin typeface="Albert Sans"/>
                <a:ea typeface="Albert Sans"/>
              </a:rPr>
              <a:t>/pConversely, high latency, frequent timeouts, or packet loss indicate underlying problems such as congestion, faulty hardware, or configuration errors. Proper interpretation of these metrics enables proactive troubleshooting to ensure continued optimal network performance and reliability.</a:t>
            </a:r>
            <a:endParaRPr lang="fr-FR" sz="1400" b="0" u="none" strike="noStrike">
              <a:solidFill>
                <a:srgbClr val="000000"/>
              </a:solidFill>
              <a:effectLst/>
              <a:uFillTx/>
              <a:latin typeface="Arial"/>
            </a:endParaRPr>
          </a:p>
        </p:txBody>
      </p:sp>
      <p:sp>
        <p:nvSpPr>
          <p:cNvPr id="72" name="PlaceHolder 2"/>
          <p:cNvSpPr>
            <a:spLocks noGrp="1"/>
          </p:cNvSpPr>
          <p:nvPr>
            <p:ph type="title"/>
          </p:nvPr>
        </p:nvSpPr>
        <p:spPr>
          <a:xfrm>
            <a:off x="514440" y="209520"/>
            <a:ext cx="8115120" cy="64728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300" b="0" u="none" strike="noStrike">
                <a:solidFill>
                  <a:schemeClr val="dk1"/>
                </a:solidFill>
                <a:effectLst/>
                <a:uFillTx/>
                <a:latin typeface="Viaoda Libre"/>
                <a:ea typeface="Viaoda Libre"/>
              </a:rPr>
              <a:t>Interpreting PING</a:t>
            </a:r>
            <a:r>
              <a:rPr lang="en-US" sz="3300" b="0" i="1" u="none" strike="noStrike">
                <a:solidFill>
                  <a:schemeClr val="dk1"/>
                </a:solidFill>
                <a:effectLst/>
                <a:uFillTx/>
                <a:latin typeface="Viaoda Libre"/>
                <a:ea typeface="Viaoda Libre"/>
              </a:rPr>
              <a:t> Results</a:t>
            </a:r>
            <a:endParaRPr lang="fr-FR" sz="3300" b="0" u="none" strike="noStrike">
              <a:solidFill>
                <a:schemeClr val="dk1"/>
              </a:solidFill>
              <a:effectLst/>
              <a:uFillTx/>
              <a:latin typeface="Arial"/>
            </a:endParaRPr>
          </a:p>
        </p:txBody>
      </p:sp>
      <p:pic>
        <p:nvPicPr>
          <p:cNvPr id="73" name="Google Shape;184;p31"/>
          <p:cNvPicPr/>
          <p:nvPr/>
        </p:nvPicPr>
        <p:blipFill>
          <a:blip r:embed="rId2"/>
          <a:srcRect l="20913" r="40199" b="19910"/>
          <a:stretch/>
        </p:blipFill>
        <p:spPr>
          <a:xfrm>
            <a:off x="5782680" y="1249560"/>
            <a:ext cx="3360960" cy="389376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p:nvPr>
        </p:nvSpPr>
        <p:spPr>
          <a:xfrm>
            <a:off x="847800" y="1200240"/>
            <a:ext cx="4619160" cy="2104560"/>
          </a:xfrm>
          <a:prstGeom prst="rect">
            <a:avLst/>
          </a:prstGeom>
          <a:noFill/>
          <a:ln w="0">
            <a:noFill/>
          </a:ln>
        </p:spPr>
        <p:txBody>
          <a:bodyPr lIns="91440" tIns="91440" rIns="91440" bIns="91440" anchor="t">
            <a:normAutofit fontScale="77500" lnSpcReduction="19999"/>
          </a:bodyPr>
          <a:lstStyle/>
          <a:p>
            <a:pPr indent="0">
              <a:lnSpc>
                <a:spcPct val="150000"/>
              </a:lnSpc>
              <a:buNone/>
              <a:tabLst>
                <a:tab pos="0" algn="l"/>
              </a:tabLst>
            </a:pPr>
            <a:r>
              <a:rPr lang="en-US" sz="1400" b="0" u="none" strike="noStrike">
                <a:solidFill>
                  <a:schemeClr val="dk1"/>
                </a:solidFill>
                <a:effectLst/>
                <a:uFillTx/>
                <a:latin typeface="Albert Sans"/>
                <a:ea typeface="Albert Sans"/>
              </a:rPr>
              <a:t>The PING command remains a </a:t>
            </a:r>
            <a:r>
              <a:rPr lang="en-US" sz="1400" b="1" u="none" strike="noStrike">
                <a:solidFill>
                  <a:schemeClr val="dk1"/>
                </a:solidFill>
                <a:effectLst/>
                <a:uFillTx/>
                <a:latin typeface="Albert Sans"/>
                <a:ea typeface="Albert Sans"/>
              </a:rPr>
              <a:t>fundamental diagnostic tool</a:t>
            </a:r>
            <a:r>
              <a:rPr lang="en-US" sz="1400" b="0" u="none" strike="noStrike">
                <a:solidFill>
                  <a:schemeClr val="dk1"/>
                </a:solidFill>
                <a:effectLst/>
                <a:uFillTx/>
                <a:latin typeface="Albert Sans"/>
                <a:ea typeface="Albert Sans"/>
              </a:rPr>
              <a:t> for quickly assessing network connectivity and performance. Its ability to verify device reachability and measure latency makes it indispensable for network administrators.</a:t>
            </a:r>
            <a:endParaRPr lang="fr-FR" sz="1400" b="0" u="none" strike="noStrike">
              <a:solidFill>
                <a:srgbClr val="000000"/>
              </a:solidFill>
              <a:effectLst/>
              <a:uFillTx/>
              <a:latin typeface="Arial"/>
            </a:endParaRPr>
          </a:p>
          <a:p>
            <a:pPr indent="0">
              <a:lnSpc>
                <a:spcPct val="150000"/>
              </a:lnSpc>
              <a:buNone/>
              <a:tabLst>
                <a:tab pos="0" algn="l"/>
              </a:tabLst>
            </a:pPr>
            <a:r>
              <a:rPr lang="en-US" sz="1400" b="0" u="none" strike="noStrike">
                <a:solidFill>
                  <a:schemeClr val="dk1"/>
                </a:solidFill>
                <a:effectLst/>
                <a:uFillTx/>
                <a:latin typeface="Albert Sans"/>
                <a:ea typeface="Albert Sans"/>
              </a:rPr>
              <a:t>p</a:t>
            </a:r>
            <a:endParaRPr lang="fr-FR" sz="1400" b="0" u="none" strike="noStrike">
              <a:solidFill>
                <a:srgbClr val="000000"/>
              </a:solidFill>
              <a:effectLst/>
              <a:uFillTx/>
              <a:latin typeface="Arial"/>
            </a:endParaRPr>
          </a:p>
          <a:p>
            <a:pPr indent="0">
              <a:lnSpc>
                <a:spcPct val="150000"/>
              </a:lnSpc>
              <a:buNone/>
              <a:tabLst>
                <a:tab pos="0" algn="l"/>
              </a:tabLst>
            </a:pPr>
            <a:r>
              <a:rPr lang="en-US" sz="1400" b="0" u="none" strike="noStrike">
                <a:solidFill>
                  <a:schemeClr val="dk1"/>
                </a:solidFill>
                <a:effectLst/>
                <a:uFillTx/>
                <a:latin typeface="Albert Sans"/>
                <a:ea typeface="Albert Sans"/>
              </a:rPr>
              <a:t>/pA thorough understanding of how to interpret PING results enhances troubleshooting effectiveness, allowing for swift identification and resolution of network issues. Employing PING as part of routine network monitoring helps maintain consistent and reliable network operations.</a:t>
            </a:r>
            <a:endParaRPr lang="fr-FR" sz="1400" b="0" u="none" strike="noStrike">
              <a:solidFill>
                <a:srgbClr val="000000"/>
              </a:solidFill>
              <a:effectLst/>
              <a:uFillTx/>
              <a:latin typeface="Arial"/>
            </a:endParaRPr>
          </a:p>
        </p:txBody>
      </p:sp>
      <p:sp>
        <p:nvSpPr>
          <p:cNvPr id="75" name="PlaceHolder 2"/>
          <p:cNvSpPr>
            <a:spLocks noGrp="1"/>
          </p:cNvSpPr>
          <p:nvPr>
            <p:ph type="title"/>
          </p:nvPr>
        </p:nvSpPr>
        <p:spPr>
          <a:xfrm>
            <a:off x="514440" y="209520"/>
            <a:ext cx="8115120" cy="64728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300" b="0" u="none" strike="noStrike">
                <a:solidFill>
                  <a:schemeClr val="dk1"/>
                </a:solidFill>
                <a:effectLst/>
                <a:uFillTx/>
                <a:latin typeface="Viaoda Libre"/>
                <a:ea typeface="Viaoda Libre"/>
              </a:rPr>
              <a:t>Conclusions</a:t>
            </a:r>
            <a:endParaRPr lang="fr-FR" sz="3300" b="0" u="none" strike="noStrike">
              <a:solidFill>
                <a:schemeClr val="dk1"/>
              </a:solidFill>
              <a:effectLst/>
              <a:uFillTx/>
              <a:latin typeface="Arial"/>
            </a:endParaRPr>
          </a:p>
        </p:txBody>
      </p:sp>
      <p:pic>
        <p:nvPicPr>
          <p:cNvPr id="76" name="Google Shape;184;p31"/>
          <p:cNvPicPr/>
          <p:nvPr/>
        </p:nvPicPr>
        <p:blipFill>
          <a:blip r:embed="rId2"/>
          <a:srcRect l="20913" r="40199" b="19910"/>
          <a:stretch/>
        </p:blipFill>
        <p:spPr>
          <a:xfrm>
            <a:off x="5782680" y="1249560"/>
            <a:ext cx="3360960" cy="389376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Google Shape;287;p41"/>
          <p:cNvPicPr/>
          <p:nvPr/>
        </p:nvPicPr>
        <p:blipFill>
          <a:blip r:embed="rId2">
            <a:alphaModFix amt="64000"/>
          </a:blip>
          <a:srcRect l="11023" r="13738" b="8154"/>
          <a:stretch/>
        </p:blipFill>
        <p:spPr>
          <a:xfrm rot="12735000">
            <a:off x="666000" y="-2051640"/>
            <a:ext cx="6625800" cy="5777280"/>
          </a:xfrm>
          <a:prstGeom prst="rect">
            <a:avLst/>
          </a:prstGeom>
          <a:noFill/>
          <a:ln w="0">
            <a:noFill/>
          </a:ln>
        </p:spPr>
      </p:pic>
      <p:sp>
        <p:nvSpPr>
          <p:cNvPr id="78" name="PlaceHolder 1"/>
          <p:cNvSpPr>
            <a:spLocks noGrp="1"/>
          </p:cNvSpPr>
          <p:nvPr>
            <p:ph type="title"/>
          </p:nvPr>
        </p:nvSpPr>
        <p:spPr>
          <a:xfrm>
            <a:off x="3238560" y="-943920"/>
            <a:ext cx="5438520" cy="2439000"/>
          </a:xfrm>
          <a:prstGeom prst="rect">
            <a:avLst/>
          </a:prstGeom>
          <a:noFill/>
          <a:ln w="0">
            <a:noFill/>
          </a:ln>
        </p:spPr>
        <p:txBody>
          <a:bodyPr lIns="91440" tIns="91440" rIns="91440" bIns="91440" anchor="b">
            <a:spAutoFit/>
          </a:bodyPr>
          <a:lstStyle/>
          <a:p>
            <a:pPr indent="0" algn="r">
              <a:lnSpc>
                <a:spcPct val="100000"/>
              </a:lnSpc>
              <a:buNone/>
              <a:tabLst>
                <a:tab pos="0" algn="l"/>
              </a:tabLst>
            </a:pPr>
            <a:r>
              <a:rPr lang="en" sz="7400" b="0" u="none" strike="noStrike">
                <a:solidFill>
                  <a:schemeClr val="dk1"/>
                </a:solidFill>
                <a:effectLst/>
                <a:uFillTx/>
                <a:latin typeface="Viaoda Libre"/>
                <a:ea typeface="Viaoda Libre"/>
              </a:rPr>
              <a:t>THANKS</a:t>
            </a:r>
            <a:endParaRPr lang="fr-FR" sz="7400" b="0" u="none" strike="noStrike">
              <a:solidFill>
                <a:schemeClr val="dk1"/>
              </a:solidFill>
              <a:effectLst/>
              <a:uFillTx/>
              <a:latin typeface="Arial"/>
            </a:endParaRPr>
          </a:p>
        </p:txBody>
      </p:sp>
      <p:sp>
        <p:nvSpPr>
          <p:cNvPr id="79" name="PlaceHolder 2"/>
          <p:cNvSpPr>
            <a:spLocks noGrp="1"/>
          </p:cNvSpPr>
          <p:nvPr>
            <p:ph type="subTitle"/>
          </p:nvPr>
        </p:nvSpPr>
        <p:spPr>
          <a:xfrm>
            <a:off x="4638600" y="1314360"/>
            <a:ext cx="4047840" cy="1229040"/>
          </a:xfrm>
          <a:prstGeom prst="rect">
            <a:avLst/>
          </a:prstGeom>
          <a:noFill/>
          <a:ln w="0">
            <a:noFill/>
          </a:ln>
        </p:spPr>
        <p:txBody>
          <a:bodyPr lIns="91440" tIns="91440" rIns="91440" bIns="91440" anchor="t">
            <a:spAutoFit/>
          </a:bodyPr>
          <a:lstStyle/>
          <a:p>
            <a:pPr indent="0" algn="r">
              <a:lnSpc>
                <a:spcPct val="100000"/>
              </a:lnSpc>
              <a:buNone/>
              <a:tabLst>
                <a:tab pos="0" algn="l"/>
              </a:tabLst>
            </a:pPr>
            <a:r>
              <a:rPr lang="en" sz="1400" b="0" u="none" strike="noStrike">
                <a:solidFill>
                  <a:schemeClr val="dk1"/>
                </a:solidFill>
                <a:effectLst/>
                <a:uFillTx/>
                <a:latin typeface="Albert Sans"/>
                <a:ea typeface="Albert Sans"/>
              </a:rPr>
              <a:t>Do you have any questions?</a:t>
            </a:r>
            <a:endParaRPr lang="en-US" sz="1400" b="0" u="none" strike="noStrike">
              <a:solidFill>
                <a:srgbClr val="000000"/>
              </a:solidFill>
              <a:effectLst/>
              <a:uFillTx/>
              <a:latin typeface="OpenSymbol"/>
            </a:endParaRPr>
          </a:p>
          <a:p>
            <a:pPr indent="0" algn="r">
              <a:lnSpc>
                <a:spcPct val="100000"/>
              </a:lnSpc>
              <a:spcBef>
                <a:spcPts val="1001"/>
              </a:spcBef>
              <a:buNone/>
              <a:tabLst>
                <a:tab pos="0" algn="l"/>
              </a:tabLst>
            </a:pPr>
            <a:r>
              <a:rPr lang="en" sz="1400" b="0" u="none" strike="noStrike">
                <a:solidFill>
                  <a:schemeClr val="dk1"/>
                </a:solidFill>
                <a:effectLst/>
                <a:uFillTx/>
                <a:latin typeface="Albert Sans"/>
                <a:ea typeface="Albert Sans"/>
              </a:rPr>
              <a:t>youremail@freepik.com</a:t>
            </a:r>
            <a:endParaRPr lang="en-US" sz="1400" b="0" u="none" strike="noStrike">
              <a:solidFill>
                <a:srgbClr val="000000"/>
              </a:solidFill>
              <a:effectLst/>
              <a:uFillTx/>
              <a:latin typeface="OpenSymbol"/>
            </a:endParaRPr>
          </a:p>
          <a:p>
            <a:pPr indent="0" algn="r">
              <a:lnSpc>
                <a:spcPct val="100000"/>
              </a:lnSpc>
              <a:buNone/>
              <a:tabLst>
                <a:tab pos="0" algn="l"/>
              </a:tabLst>
            </a:pPr>
            <a:r>
              <a:rPr lang="en" sz="1400" b="0" u="none" strike="noStrike">
                <a:solidFill>
                  <a:schemeClr val="dk1"/>
                </a:solidFill>
                <a:effectLst/>
                <a:uFillTx/>
                <a:latin typeface="Albert Sans"/>
                <a:ea typeface="Albert Sans"/>
              </a:rPr>
              <a:t>+00 000 000 000</a:t>
            </a:r>
            <a:endParaRPr lang="en-US" sz="1400" b="0" u="none" strike="noStrike">
              <a:solidFill>
                <a:srgbClr val="000000"/>
              </a:solidFill>
              <a:effectLst/>
              <a:uFillTx/>
              <a:latin typeface="OpenSymbol"/>
            </a:endParaRPr>
          </a:p>
          <a:p>
            <a:pPr indent="0" algn="r">
              <a:lnSpc>
                <a:spcPct val="100000"/>
              </a:lnSpc>
              <a:buNone/>
              <a:tabLst>
                <a:tab pos="0" algn="l"/>
              </a:tabLst>
            </a:pPr>
            <a:r>
              <a:rPr lang="en" sz="1400" b="0" u="none" strike="noStrike">
                <a:solidFill>
                  <a:schemeClr val="dk1"/>
                </a:solidFill>
                <a:effectLst/>
                <a:uFillTx/>
                <a:latin typeface="Albert Sans"/>
                <a:ea typeface="Albert Sans"/>
              </a:rPr>
              <a:t>yourwebsite.com</a:t>
            </a:r>
            <a:endParaRPr lang="en-US" sz="1400" b="0" u="none" strike="noStrike">
              <a:solidFill>
                <a:srgbClr val="000000"/>
              </a:solidFill>
              <a:effectLst/>
              <a:uFillTx/>
              <a:latin typeface="OpenSymbol"/>
            </a:endParaRPr>
          </a:p>
        </p:txBody>
      </p:sp>
      <p:grpSp>
        <p:nvGrpSpPr>
          <p:cNvPr id="80" name="Google Shape;290;p41"/>
          <p:cNvGrpSpPr/>
          <p:nvPr/>
        </p:nvGrpSpPr>
        <p:grpSpPr>
          <a:xfrm>
            <a:off x="533520" y="3412080"/>
            <a:ext cx="275760" cy="275760"/>
            <a:chOff x="533520" y="3412080"/>
            <a:chExt cx="275760" cy="275760"/>
          </a:xfrm>
        </p:grpSpPr>
        <p:sp>
          <p:nvSpPr>
            <p:cNvPr id="81" name="Google Shape;291;p41"/>
            <p:cNvSpPr/>
            <p:nvPr/>
          </p:nvSpPr>
          <p:spPr>
            <a:xfrm>
              <a:off x="533520" y="341208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 name="Google Shape;292;p41"/>
            <p:cNvSpPr/>
            <p:nvPr/>
          </p:nvSpPr>
          <p:spPr>
            <a:xfrm>
              <a:off x="597600" y="347760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 name="Google Shape;293;p41"/>
            <p:cNvSpPr/>
            <p:nvPr/>
          </p:nvSpPr>
          <p:spPr>
            <a:xfrm>
              <a:off x="727200" y="344736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4" name="Google Shape;294;p41"/>
          <p:cNvGrpSpPr/>
          <p:nvPr/>
        </p:nvGrpSpPr>
        <p:grpSpPr>
          <a:xfrm>
            <a:off x="1323360" y="3430800"/>
            <a:ext cx="266400" cy="237960"/>
            <a:chOff x="1323360" y="3430800"/>
            <a:chExt cx="266400" cy="237960"/>
          </a:xfrm>
        </p:grpSpPr>
        <p:sp>
          <p:nvSpPr>
            <p:cNvPr id="85" name="Google Shape;295;p41"/>
            <p:cNvSpPr/>
            <p:nvPr/>
          </p:nvSpPr>
          <p:spPr>
            <a:xfrm>
              <a:off x="1332360" y="351468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7040" bIns="77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 name="Google Shape;296;p41"/>
            <p:cNvSpPr/>
            <p:nvPr/>
          </p:nvSpPr>
          <p:spPr>
            <a:xfrm>
              <a:off x="1323360" y="343080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 name="Google Shape;297;p41"/>
            <p:cNvSpPr/>
            <p:nvPr/>
          </p:nvSpPr>
          <p:spPr>
            <a:xfrm>
              <a:off x="1425960" y="351468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7040" bIns="77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8" name="Google Shape;298;p41"/>
          <p:cNvSpPr/>
          <p:nvPr/>
        </p:nvSpPr>
        <p:spPr>
          <a:xfrm>
            <a:off x="533520" y="4429080"/>
            <a:ext cx="3723840" cy="25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 sz="1200" b="0" u="none" strike="noStrike">
                <a:solidFill>
                  <a:schemeClr val="dk1"/>
                </a:solidFill>
                <a:effectLst/>
                <a:uFillTx/>
                <a:latin typeface="Arial"/>
              </a:rPr>
              <a:t>Please keep this slide for attribution</a:t>
            </a:r>
            <a:endParaRPr lang="en-US" sz="1200" b="0" u="none" strike="noStrike">
              <a:solidFill>
                <a:srgbClr val="000000"/>
              </a:solidFill>
              <a:effectLst/>
              <a:uFillTx/>
              <a:latin typeface="OpenSymbol"/>
            </a:endParaRPr>
          </a:p>
        </p:txBody>
      </p:sp>
      <p:sp>
        <p:nvSpPr>
          <p:cNvPr id="89" name="Google Shape;299;p41"/>
          <p:cNvSpPr/>
          <p:nvPr/>
        </p:nvSpPr>
        <p:spPr>
          <a:xfrm>
            <a:off x="2113920" y="3413880"/>
            <a:ext cx="268200" cy="273960"/>
          </a:xfrm>
          <a:custGeom>
            <a:avLst/>
            <a:gdLst>
              <a:gd name="textAreaLeft" fmla="*/ 0 w 268200"/>
              <a:gd name="textAreaRight" fmla="*/ 268560 w 268200"/>
              <a:gd name="textAreaTop" fmla="*/ 0 h 273960"/>
              <a:gd name="textAreaBottom" fmla="*/ 274320 h 273960"/>
            </a:gdLst>
            <a:ahLst/>
            <a:cxn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
</file>

<file path=ppt/theme/theme1.xml><?xml version="1.0" encoding="utf-8"?>
<a:theme xmlns:a="http://schemas.openxmlformats.org/drawingml/2006/main"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(16:9)</PresentationFormat>
  <Slides>12</Slides>
  <Notes>0</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Minimal Gradient by Slidesgo</vt:lpstr>
      <vt:lpstr>Slidesgo Final Pages</vt:lpstr>
      <vt:lpstr>PING Command</vt:lpstr>
      <vt:lpstr>Introduction</vt:lpstr>
      <vt:lpstr>01</vt:lpstr>
      <vt:lpstr>Definition and Purpose</vt:lpstr>
      <vt:lpstr>How PING Works</vt:lpstr>
      <vt:lpstr>Common Use Cases</vt:lpstr>
      <vt:lpstr>02</vt:lpstr>
      <vt:lpstr>Measuring Network Availability</vt:lpstr>
      <vt:lpstr>Diagnosing Network Issues</vt:lpstr>
      <vt:lpstr>Interpreting PING Results</vt:lpstr>
      <vt:lpstr>Conclusions</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PING Command</dc:title>
  <cp:lastModifiedBy>gulfishan fatima</cp:lastModifiedBy>
  <cp:revision>1</cp:revision>
  <dcterms:modified xsi:type="dcterms:W3CDTF">2025-12-14T07:41:16Z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2025-12-13T17:05:32Z</dcterms:created>
  <dc:creator>Unknown Creator</dc:creator>
  <dc:description/>
  <dc:language>en-US</dc:language>
  <cp:lastModifiedBy>Unknown Creator</cp:lastModifiedBy>
  <dcterms:modified xsi:type="dcterms:W3CDTF">2025-12-13T17:05:32Z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